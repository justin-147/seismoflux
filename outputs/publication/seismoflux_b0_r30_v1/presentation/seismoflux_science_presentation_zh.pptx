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9ac64726043e4" /><Relationship Type="http://schemas.openxmlformats.org/officeDocument/2006/relationships/extended-properties" Target="/docProps/app.xml" Id="R79dfdbae8aee44d0" /><Relationship Type="http://schemas.openxmlformats.org/officeDocument/2006/relationships/officeDocument" Target="/ppt/presentation.xml" Id="Rc0941b69891e4b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454e95ffe246e8"/>
  </p:sldMasterIdLst>
  <p:notesMasterIdLst>
    <p:notesMasterId xmlns:r="http://schemas.openxmlformats.org/officeDocument/2006/relationships" r:id="R276f9f4d36254c32"/>
  </p:notesMasterIdLst>
  <p:sldIdLst>
    <p:sldId xmlns:r="http://schemas.openxmlformats.org/officeDocument/2006/relationships" id="256" r:id="Rfe3e9e8ba44b4c79"/>
    <p:sldId xmlns:r="http://schemas.openxmlformats.org/officeDocument/2006/relationships" id="257" r:id="R0694f34b58c74417"/>
    <p:sldId xmlns:r="http://schemas.openxmlformats.org/officeDocument/2006/relationships" id="258" r:id="R7c8bf2d4592641b0"/>
    <p:sldId xmlns:r="http://schemas.openxmlformats.org/officeDocument/2006/relationships" id="259" r:id="R3039fb1e8aed431c"/>
    <p:sldId xmlns:r="http://schemas.openxmlformats.org/officeDocument/2006/relationships" id="260" r:id="R1a0ab0b236e3441a"/>
    <p:sldId xmlns:r="http://schemas.openxmlformats.org/officeDocument/2006/relationships" id="261" r:id="R29dc6998e5c747ea"/>
    <p:sldId xmlns:r="http://schemas.openxmlformats.org/officeDocument/2006/relationships" id="262" r:id="R751fc7f2d9214f8f"/>
    <p:sldId xmlns:r="http://schemas.openxmlformats.org/officeDocument/2006/relationships" id="263" r:id="R85a7046ab4794849"/>
    <p:sldId xmlns:r="http://schemas.openxmlformats.org/officeDocument/2006/relationships" id="264" r:id="R42f85aae400f41e9"/>
    <p:sldId xmlns:r="http://schemas.openxmlformats.org/officeDocument/2006/relationships" id="265" r:id="Rbb9cf2c733a74365"/>
    <p:sldId xmlns:r="http://schemas.openxmlformats.org/officeDocument/2006/relationships" id="266" r:id="R43366fc012df44eb"/>
    <p:sldId xmlns:r="http://schemas.openxmlformats.org/officeDocument/2006/relationships" id="267" r:id="R89dd9364a06741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3d5c425e848c2" /><Relationship Type="http://schemas.openxmlformats.org/officeDocument/2006/relationships/slideMaster" Target="/ppt/slideMasters/slideMaster1.xml" Id="R18454e95ffe246e8" /><Relationship Type="http://schemas.openxmlformats.org/officeDocument/2006/relationships/notesMaster" Target="/ppt/notesMasters/notesMaster1.xml" Id="R276f9f4d36254c32" /><Relationship Type="http://schemas.openxmlformats.org/officeDocument/2006/relationships/presProps" Target="/ppt/presProps.xml" Id="R664fe9ec0d1a44d4" /><Relationship Type="http://schemas.openxmlformats.org/officeDocument/2006/relationships/tableStyles" Target="/ppt/tableStyles.xml" Id="R0c214976ef624f1c" /><Relationship Type="http://schemas.openxmlformats.org/officeDocument/2006/relationships/slide" Target="/ppt/slides/slide1.xml" Id="Rfe3e9e8ba44b4c79" /><Relationship Type="http://schemas.openxmlformats.org/officeDocument/2006/relationships/slide" Target="/ppt/slides/slide2.xml" Id="R0694f34b58c74417" /><Relationship Type="http://schemas.openxmlformats.org/officeDocument/2006/relationships/slide" Target="/ppt/slides/slide3.xml" Id="R7c8bf2d4592641b0" /><Relationship Type="http://schemas.openxmlformats.org/officeDocument/2006/relationships/slide" Target="/ppt/slides/slide4.xml" Id="R3039fb1e8aed431c" /><Relationship Type="http://schemas.openxmlformats.org/officeDocument/2006/relationships/slide" Target="/ppt/slides/slide5.xml" Id="R1a0ab0b236e3441a" /><Relationship Type="http://schemas.openxmlformats.org/officeDocument/2006/relationships/slide" Target="/ppt/slides/slide6.xml" Id="R29dc6998e5c747ea" /><Relationship Type="http://schemas.openxmlformats.org/officeDocument/2006/relationships/slide" Target="/ppt/slides/slide7.xml" Id="R751fc7f2d9214f8f" /><Relationship Type="http://schemas.openxmlformats.org/officeDocument/2006/relationships/slide" Target="/ppt/slides/slide8.xml" Id="R85a7046ab4794849" /><Relationship Type="http://schemas.openxmlformats.org/officeDocument/2006/relationships/slide" Target="/ppt/slides/slide9.xml" Id="R42f85aae400f41e9" /><Relationship Type="http://schemas.openxmlformats.org/officeDocument/2006/relationships/slide" Target="/ppt/slides/slide10.xml" Id="Rbb9cf2c733a74365" /><Relationship Type="http://schemas.openxmlformats.org/officeDocument/2006/relationships/slide" Target="/ppt/slides/slide11.xml" Id="R43366fc012df44eb" /><Relationship Type="http://schemas.openxmlformats.org/officeDocument/2006/relationships/slide" Target="/ppt/slides/slide12.xml" Id="R89dd9364a06741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393798062b4f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d840d21384000" /><Relationship Type="http://schemas.openxmlformats.org/officeDocument/2006/relationships/notesMaster" Target="/ppt/notesMasters/notesMaster1.xml" Id="R0e0332d97667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e229042e74a55" /><Relationship Type="http://schemas.openxmlformats.org/officeDocument/2006/relationships/notesMaster" Target="/ppt/notesMasters/notesMaster1.xml" Id="R30fc9a3186914b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3e1af58444ab8" /><Relationship Type="http://schemas.openxmlformats.org/officeDocument/2006/relationships/notesMaster" Target="/ppt/notesMasters/notesMaster1.xml" Id="R772cc0f5fbdf47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63b9083e24ba3" /><Relationship Type="http://schemas.openxmlformats.org/officeDocument/2006/relationships/notesMaster" Target="/ppt/notesMasters/notesMaster1.xml" Id="R51cd9981d5ac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d07581f1b4e3a" /><Relationship Type="http://schemas.openxmlformats.org/officeDocument/2006/relationships/notesMaster" Target="/ppt/notesMasters/notesMaster1.xml" Id="R2e187449ad6543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3c2d53f0a44e2" /><Relationship Type="http://schemas.openxmlformats.org/officeDocument/2006/relationships/notesMaster" Target="/ppt/notesMasters/notesMaster1.xml" Id="R6ebbe2a4ffe94f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d43e98f9c84b46" /><Relationship Type="http://schemas.openxmlformats.org/officeDocument/2006/relationships/notesMaster" Target="/ppt/notesMasters/notesMaster1.xml" Id="R6ae169a3a82f44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aedffdcbc844d0" /><Relationship Type="http://schemas.openxmlformats.org/officeDocument/2006/relationships/notesMaster" Target="/ppt/notesMasters/notesMaster1.xml" Id="R58d61a977379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d0fb88172348ea" /><Relationship Type="http://schemas.openxmlformats.org/officeDocument/2006/relationships/notesMaster" Target="/ppt/notesMasters/notesMaster1.xml" Id="Rd1044b81be554b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f3904876e0466c" /><Relationship Type="http://schemas.openxmlformats.org/officeDocument/2006/relationships/notesMaster" Target="/ppt/notesMasters/notesMaster1.xml" Id="R41202cb986914d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ba5604bc41467b" /><Relationship Type="http://schemas.openxmlformats.org/officeDocument/2006/relationships/notesMaster" Target="/ppt/notesMasters/notesMaster1.xml" Id="R68419e2a9d3a4d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10c3b48b7f48c3" /><Relationship Type="http://schemas.openxmlformats.org/officeDocument/2006/relationships/notesMaster" Target="/ppt/notesMasters/notesMaster1.xml" Id="Rc863926c5e01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outputs/publication/seismoflux_b0_r30_v1/figure_data/primary_metrics.csv</a:t>
            </a:r>
          </a:p>
          <a:p xmlns:a="http://schemas.openxmlformats.org/drawingml/2006/main">
            <a:r>
              <a:t>- outputs/publication/seismoflux_b0_r30_v1/FIGURE_CAPTIONS.md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outputs/publication/seismoflux_b0_r30_v1/figure_data/cluster_outcomes_30d_600k.csv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data/manifests/p1_source_boundary_manifest.json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- docs/p1_b0_r30_prospective_preregistration.md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outputs/publication/seismoflux_b0_r30_v1/FIGURE_CAPTIONS.md（Figure 05）</a:t>
            </a:r>
          </a:p>
          <a:p xmlns:a="http://schemas.openxmlformats.org/drawingml/2006/main">
            <a:r>
              <a:t>- docs/p1_b0_r30_prospective_preregistration.md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outputs/publication/seismoflux_b0_r30_v1/FIGURE_CAPTIONS.md（Figure 01）</a:t>
            </a:r>
          </a:p>
          <a:p xmlns:a="http://schemas.openxmlformats.org/drawingml/2006/main">
            <a:r>
              <a:t>- outputs/publication/seismoflux_b0_r30_v1/figure_data/primary_metrics.csv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outputs/publication/seismoflux_b0_r30_v1/FIGURE_CAPTIONS.md（Figure 02）</a:t>
            </a:r>
          </a:p>
          <a:p xmlns:a="http://schemas.openxmlformats.org/drawingml/2006/main">
            <a:r>
              <a:t>- outputs/publication/seismoflux_b0_r30_v1/figure_data/cluster_outcomes_30d_600k.csv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outputs/publication/seismoflux_b0_r30_v1/figure_data/primary_metrics.csv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outputs/publication/seismoflux_b0_r30_v1/FIGURE_CAPTIONS.md（Figure 03）</a:t>
            </a:r>
          </a:p>
          <a:p xmlns:a="http://schemas.openxmlformats.org/drawingml/2006/main">
            <a:r>
              <a:t>- outputs/publication/seismoflux_b0_r30_v1/figure_data/illustrative_case_summary.csv</a:t>
            </a:r>
          </a:p>
          <a:p xmlns:a="http://schemas.openxmlformats.org/drawingml/2006/main">
            <a:r>
              <a:t>- outputs/publication/seismoflux_b0_r30_v1/build/science_payload.json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outputs/publication/seismoflux_b0_r30_v1/FIGURE_CAPTIONS.md（Figure 04）</a:t>
            </a:r>
          </a:p>
          <a:p xmlns:a="http://schemas.openxmlformats.org/drawingml/2006/main">
            <a:r>
              <a:t>- outputs/publication/seismoflux_b0_r30_v1/figure_data/illustrative_case_summary.csv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- docs/phase2_etas_numerical_qualification_acceptance.md</a:t>
            </a:r>
          </a:p>
          <a:p xmlns:a="http://schemas.openxmlformats.org/drawingml/2006/main">
            <a:r>
              <a:t>- docs/p1_b0_r30_prospective_preregistration.md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docs/p1_b0_r30_prospective_preregistration.md</a:t>
            </a:r>
          </a:p>
          <a:p xmlns:a="http://schemas.openxmlformats.org/drawingml/2006/main">
            <a:r>
              <a:t>- docs/p1_real_issue_authorization_acceptance_2026-08-31.md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outputs/publication/seismoflux_b0_r30_v1/figure_data/primary_metrics.csv</a:t>
            </a:r>
          </a:p>
          <a:p xmlns:a="http://schemas.openxmlformats.org/drawingml/2006/main">
            <a:r>
              <a:t>- docs/d1_final_acceptance_2026-08-28.md</a:t>
            </a:r>
          </a:p>
          <a:p xmlns:a="http://schemas.openxmlformats.org/drawingml/2006/main">
            <a:r>
              <a:t>- docs/p1_b0_r30_prospective_preregistration.md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4ca96564645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3bf16126e41dd" /><Relationship Type="http://schemas.openxmlformats.org/officeDocument/2006/relationships/slideLayout" Target="/ppt/slideLayouts/slideLayout1.xml" Id="R56103507ac9a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103507ac9a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b533e911e45ee" /><Relationship Type="http://schemas.openxmlformats.org/officeDocument/2006/relationships/notesSlide" Target="/ppt/notesSlides/notesSlide1.xml" Id="R0280e913cd20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2180afbbf44b8" /><Relationship Type="http://schemas.openxmlformats.org/officeDocument/2006/relationships/notesSlide" Target="/ppt/notesSlides/notesSlide2.xml" Id="Rb25e71ced58240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8497c59854de7" /><Relationship Type="http://schemas.openxmlformats.org/officeDocument/2006/relationships/notesSlide" Target="/ppt/notesSlides/notesSlide3.xml" Id="R445f482e060b4d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b1ea444734796" /><Relationship Type="http://schemas.openxmlformats.org/officeDocument/2006/relationships/image" Target="/ppt/media/image.png" Id="R9d517b7b780c4d83" /><Relationship Type="http://schemas.openxmlformats.org/officeDocument/2006/relationships/notesSlide" Target="/ppt/notesSlides/notesSlide4.xml" Id="Ra9453e0a64b942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0280812743b0" /><Relationship Type="http://schemas.openxmlformats.org/officeDocument/2006/relationships/image" Target="/ppt/media/image2.png" Id="Re4e480377ee14fc8" /><Relationship Type="http://schemas.openxmlformats.org/officeDocument/2006/relationships/notesSlide" Target="/ppt/notesSlides/notesSlide5.xml" Id="R115cd962af42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4105b91cf45b2" /><Relationship Type="http://schemas.openxmlformats.org/officeDocument/2006/relationships/image" Target="/ppt/media/image3.png" Id="Rf434ac14e3fe47fb" /><Relationship Type="http://schemas.openxmlformats.org/officeDocument/2006/relationships/notesSlide" Target="/ppt/notesSlides/notesSlide6.xml" Id="R48ec91fd48584b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9ef7de23941ab" /><Relationship Type="http://schemas.openxmlformats.org/officeDocument/2006/relationships/chart" Target="/ppt/slides/charts/chart1.xml" Id="R8b7671ae5f364655" /><Relationship Type="http://schemas.openxmlformats.org/officeDocument/2006/relationships/notesSlide" Target="/ppt/notesSlides/notesSlide7.xml" Id="Ra958b893d71d43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d34d9b674408e" /><Relationship Type="http://schemas.openxmlformats.org/officeDocument/2006/relationships/image" Target="/ppt/media/image4.png" Id="R86cf29b2f6844a9f" /><Relationship Type="http://schemas.openxmlformats.org/officeDocument/2006/relationships/notesSlide" Target="/ppt/notesSlides/notesSlide8.xml" Id="R7facbe3b33eb4c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e2f19e913463c" /><Relationship Type="http://schemas.openxmlformats.org/officeDocument/2006/relationships/image" Target="/ppt/media/image5.png" Id="R720e291855e5473d" /><Relationship Type="http://schemas.openxmlformats.org/officeDocument/2006/relationships/notesSlide" Target="/ppt/notesSlides/notesSlide9.xml" Id="Rccb27c4bf8c644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a5748730b4cc0" /><Relationship Type="http://schemas.openxmlformats.org/officeDocument/2006/relationships/notesSlide" Target="/ppt/notesSlides/notesSlide10.xml" Id="R871d1fe422b344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1605503d49dd" /><Relationship Type="http://schemas.openxmlformats.org/officeDocument/2006/relationships/notesSlide" Target="/ppt/notesSlides/notesSlide11.xml" Id="R9de05d152398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95fa7eb941a8" /><Relationship Type="http://schemas.openxmlformats.org/officeDocument/2006/relationships/notesSlide" Target="/ppt/notesSlides/notesSlide12.xml" Id="Rbb49be30ab18430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A9B5BE"/>
            </a:solidFill>
          </c:spPr>
          <c:cat>
            <c:strLit>
              <c:ptCount val="3"/>
              <c:pt idx="0">
                <c:v>折1</c:v>
              </c:pt>
              <c:pt idx="1">
                <c:v>折2</c:v>
              </c:pt>
              <c:pt idx="2">
                <c:v>折3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0</c:v>
              </c:pt>
            </c:numLit>
          </c:val>
        </c:ser>
        <c:ser>
          <c:idx val="1"/>
          <c:order val="1"/>
          <c:tx>
            <c:v>B0_R30</c:v>
          </c:tx>
          <c:spPr>
            <a:solidFill xmlns:a="http://schemas.openxmlformats.org/drawingml/2006/main">
              <a:srgbClr val="138A72"/>
            </a:solidFill>
          </c:spPr>
          <c:cat>
            <c:strLit>
              <c:ptCount val="3"/>
              <c:pt idx="0">
                <c:v>折1</c:v>
              </c:pt>
              <c:pt idx="1">
                <c:v>折2</c:v>
              </c:pt>
              <c:pt idx="2">
                <c:v>折3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4</c:v>
              </c:pt>
              <c:pt idx="2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EF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-edge">
            <a:extLst xmlns:a="http://schemas.openxmlformats.org/drawingml/2006/main">
              <a:ext uri="{FF2B5EF4-FFF2-40B4-BE49-F238E27FC236}">
                <a16:creationId xmlns:a16="http://schemas.microsoft.com/office/drawing/2014/main" id="{9CE08BB2-234A-4DD7-84DB-0F323A5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7CC0B0-BA7E-4EEF-98C1-7AAAB3B7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SEISMOFLUX · 冻结历史回放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712305-044A-4F5C-BC93-763D387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相同面积上限下，多命中4个规则化震群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451074-5AE5-4A8E-B8D9-E28D3F21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将起报前30天的近期地震活动叠加到长期背景</a:t>
            </a:r>
          </a:p>
        </p:txBody>
      </p:sp>
      <p:sp>
        <p:nvSpPr>
          <p:cNvPr id="5" name="cover-metric-field">
            <a:extLst xmlns:a="http://schemas.openxmlformats.org/drawingml/2006/main">
              <a:ext uri="{FF2B5EF4-FFF2-40B4-BE49-F238E27FC236}">
                <a16:creationId xmlns:a16="http://schemas.microsoft.com/office/drawing/2014/main" id="{DB32B826-0674-4BF0-B4DD-9B7DBC4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before-label">
            <a:extLst xmlns:a="http://schemas.openxmlformats.org/drawingml/2006/main">
              <a:ext uri="{FF2B5EF4-FFF2-40B4-BE49-F238E27FC236}">
                <a16:creationId xmlns:a16="http://schemas.microsoft.com/office/drawing/2014/main" id="{540DC6D4-9D63-4F09-9D7D-9C901EA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长期背景 B0</a:t>
            </a:r>
          </a:p>
        </p:txBody>
      </p:sp>
      <p:sp>
        <p:nvSpPr>
          <p:cNvPr id="7" name="cover-metric-before">
            <a:extLst xmlns:a="http://schemas.openxmlformats.org/drawingml/2006/main">
              <a:ext uri="{FF2B5EF4-FFF2-40B4-BE49-F238E27FC236}">
                <a16:creationId xmlns:a16="http://schemas.microsoft.com/office/drawing/2014/main" id="{0D9FCA17-C62A-48C6-81B1-CA83C3F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5/21</a:t>
            </a:r>
          </a:p>
        </p:txBody>
      </p:sp>
      <p:sp>
        <p:nvSpPr>
          <p:cNvPr id="8" name="cover-metric-arrow">
            <a:extLst xmlns:a="http://schemas.openxmlformats.org/drawingml/2006/main">
              <a:ext uri="{FF2B5EF4-FFF2-40B4-BE49-F238E27FC236}">
                <a16:creationId xmlns:a16="http://schemas.microsoft.com/office/drawing/2014/main" id="{DB0D6F2B-59ED-490F-B499-FD7C11D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cover-metric-after">
            <a:extLst xmlns:a="http://schemas.openxmlformats.org/drawingml/2006/main">
              <a:ext uri="{FF2B5EF4-FFF2-40B4-BE49-F238E27FC236}">
                <a16:creationId xmlns:a16="http://schemas.microsoft.com/office/drawing/2014/main" id="{6D9AC8C8-47D8-42EC-9EDE-7FF1CAB2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10" name="cover-after-label">
            <a:extLst xmlns:a="http://schemas.openxmlformats.org/drawingml/2006/main">
              <a:ext uri="{FF2B5EF4-FFF2-40B4-BE49-F238E27FC236}">
                <a16:creationId xmlns:a16="http://schemas.microsoft.com/office/drawing/2014/main" id="{976A8706-AB57-4EAE-B3F0-3DDA2EF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长期背景 + 近期30天 B0_R30</a:t>
            </a:r>
          </a:p>
        </p:txBody>
      </p:sp>
      <p:sp>
        <p:nvSpPr>
          <p:cNvPr id="11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C3C81A2F-CE8F-4F9D-A0E2-1013951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30天预测窗 · 600,000 km²面积上限 · 21个规则化 M5–6 震群 · 真实前瞻为0期</a:t>
            </a:r>
          </a:p>
        </p:txBody>
      </p:sp>
    </p:spTree>
    <p:extLst>
      <p:ext uri="{BB962C8B-B14F-4D97-AF65-F5344CB8AC3E}">
        <p14:creationId xmlns:p14="http://schemas.microsoft.com/office/powerpoint/2010/main" val="939705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429659D-07CC-4200-8CC2-054F8E9F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科学问题只有一个：有限报警面积里，能多覆盖几个规则化震群？</a:t>
            </a:r>
          </a:p>
        </p:txBody>
      </p:sp>
      <p:cxnSp>
        <p:nvCxnSpPr>
          <p:cNvPr id="15" name="title-rule-2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</a:ln>
        </p:spPr>
      </p:cxnSp>
      <p:sp>
        <p:nvSpPr>
          <p:cNvPr id="3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153AF9AE-04CE-436E-B632-CA24A82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问题与评价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D9E9DF3-AD96-4A18-81E4-29D2199E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question-area-number">
            <a:extLst xmlns:a="http://schemas.openxmlformats.org/drawingml/2006/main">
              <a:ext uri="{FF2B5EF4-FFF2-40B4-BE49-F238E27FC236}">
                <a16:creationId xmlns:a16="http://schemas.microsoft.com/office/drawing/2014/main" id="{F46573D2-658B-4E17-9268-EB4B194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600,000 km²上限</a:t>
            </a:r>
          </a:p>
        </p:txBody>
      </p:sp>
      <p:sp>
        <p:nvSpPr>
          <p:cNvPr id="6" name="question-area-label">
            <a:extLst xmlns:a="http://schemas.openxmlformats.org/drawingml/2006/main">
              <a:ext uri="{FF2B5EF4-FFF2-40B4-BE49-F238E27FC236}">
                <a16:creationId xmlns:a16="http://schemas.microsoft.com/office/drawing/2014/main" id="{C10FC594-33F8-4AA7-A664-13F4C796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两种方法使用同样的面积上限</a:t>
            </a:r>
          </a:p>
        </p:txBody>
      </p:sp>
      <p:sp>
        <p:nvSpPr>
          <p:cNvPr id="7" name="question-area-body">
            <a:extLst xmlns:a="http://schemas.openxmlformats.org/drawingml/2006/main">
              <a:ext uri="{FF2B5EF4-FFF2-40B4-BE49-F238E27FC236}">
                <a16:creationId xmlns:a16="http://schemas.microsoft.com/office/drawing/2014/main" id="{A8632D31-2A33-4EFB-B3CB-CF84407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这样比较的是排序能力，而不是谁把更多地方都涂成高风险。</a:t>
            </a:r>
          </a:p>
        </p:txBody>
      </p:sp>
      <p:sp>
        <p:nvSpPr>
          <p:cNvPr id="8" name="question-divider-vertical">
            <a:extLst xmlns:a="http://schemas.openxmlformats.org/drawingml/2006/main">
              <a:ext uri="{FF2B5EF4-FFF2-40B4-BE49-F238E27FC236}">
                <a16:creationId xmlns:a16="http://schemas.microsoft.com/office/drawing/2014/main" id="{ED4D3498-98F3-4FE2-8274-9122E16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clusters-number">
            <a:extLst xmlns:a="http://schemas.openxmlformats.org/drawingml/2006/main">
              <a:ext uri="{FF2B5EF4-FFF2-40B4-BE49-F238E27FC236}">
                <a16:creationId xmlns:a16="http://schemas.microsoft.com/office/drawing/2014/main" id="{E8EF6B79-0AC6-4675-B00D-8E964D7D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21 个</a:t>
            </a:r>
          </a:p>
        </p:txBody>
      </p:sp>
      <p:sp>
        <p:nvSpPr>
          <p:cNvPr id="10" name="question-clusters-label">
            <a:extLst xmlns:a="http://schemas.openxmlformats.org/drawingml/2006/main">
              <a:ext uri="{FF2B5EF4-FFF2-40B4-BE49-F238E27FC236}">
                <a16:creationId xmlns:a16="http://schemas.microsoft.com/office/drawing/2014/main" id="{A34772F4-276C-4CFF-9517-DC16B52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规则化 M5–6 震群</a:t>
            </a:r>
          </a:p>
        </p:txBody>
      </p:sp>
      <p:sp>
        <p:nvSpPr>
          <p:cNvPr id="11" name="question-clusters-body">
            <a:extLst xmlns:a="http://schemas.openxmlformats.org/drawingml/2006/main">
              <a:ext uri="{FF2B5EF4-FFF2-40B4-BE49-F238E27FC236}">
                <a16:creationId xmlns:a16="http://schemas.microsoft.com/office/drawing/2014/main" id="{75957DC8-393F-4A7C-B26D-C1A2E59D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把同一余震序列合并，避免一次活跃序列被重复计成很多次命中。</a:t>
            </a:r>
          </a:p>
        </p:txBody>
      </p:sp>
      <p:sp>
        <p:nvSpPr>
          <p:cNvPr id="12" name="question-takeaway-bg">
            <a:extLst xmlns:a="http://schemas.openxmlformats.org/drawingml/2006/main">
              <a:ext uri="{FF2B5EF4-FFF2-40B4-BE49-F238E27FC236}">
                <a16:creationId xmlns:a16="http://schemas.microsoft.com/office/drawing/2014/main" id="{E1F2DC9C-F9D0-46EF-BD2E-930334E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uestion-takeaway">
            <a:extLst xmlns:a="http://schemas.openxmlformats.org/drawingml/2006/main">
              <a:ext uri="{FF2B5EF4-FFF2-40B4-BE49-F238E27FC236}">
                <a16:creationId xmlns:a16="http://schemas.microsoft.com/office/drawing/2014/main" id="{E6DBF112-332D-4247-B659-50836FD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98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评价标准：在相同面积上限下，看未来30天有多少规则化震群落入报警区。</a:t>
            </a:r>
          </a:p>
        </p:txBody>
      </p:sp>
    </p:spTree>
    <p:extLst>
      <p:ext uri="{BB962C8B-B14F-4D97-AF65-F5344CB8AC3E}">
        <p14:creationId xmlns:p14="http://schemas.microsoft.com/office/powerpoint/2010/main" val="1513742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DA9CCEA5-EFFC-4DDA-844E-F8FCEF6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最终结果主要由地震目录驱动，并非所有数据都进入模型</a:t>
            </a:r>
          </a:p>
        </p:txBody>
      </p:sp>
      <p:cxnSp>
        <p:nvCxnSpPr>
          <p:cNvPr id="16" name="title-rule-3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</a:ln>
        </p:spPr>
      </p:cxnSp>
      <p:sp>
        <p:nvSpPr>
          <p:cNvPr id="3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4A387FBA-72F8-4F74-84B4-1F25D319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数据边界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401C059-FE29-4003-AFB5-A1BC2C05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data-column-used-accent">
            <a:extLst xmlns:a="http://schemas.openxmlformats.org/drawingml/2006/main">
              <a:ext uri="{FF2B5EF4-FFF2-40B4-BE49-F238E27FC236}">
                <a16:creationId xmlns:a16="http://schemas.microsoft.com/office/drawing/2014/main" id="{06B3F7F4-970F-466D-B49C-CB6BD4D2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ta-column-studied-accent">
            <a:extLst xmlns:a="http://schemas.openxmlformats.org/drawingml/2006/main">
              <a:ext uri="{FF2B5EF4-FFF2-40B4-BE49-F238E27FC236}">
                <a16:creationId xmlns:a16="http://schemas.microsoft.com/office/drawing/2014/main" id="{52112EA2-0548-4AAD-B6DD-BE3720D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4780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a-column-excluded-accent">
            <a:extLst xmlns:a="http://schemas.openxmlformats.org/drawingml/2006/main">
              <a:ext uri="{FF2B5EF4-FFF2-40B4-BE49-F238E27FC236}">
                <a16:creationId xmlns:a16="http://schemas.microsoft.com/office/drawing/2014/main" id="{6D81E08E-CA59-4FF4-B542-BFA13E8F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-used-heading">
            <a:extLst xmlns:a="http://schemas.openxmlformats.org/drawingml/2006/main">
              <a:ext uri="{FF2B5EF4-FFF2-40B4-BE49-F238E27FC236}">
                <a16:creationId xmlns:a16="http://schemas.microsoft.com/office/drawing/2014/main" id="{4AF8F9A9-8042-4236-BCD9-48AA91A7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进入最终 B0_R30</a:t>
            </a:r>
          </a:p>
        </p:txBody>
      </p:sp>
      <p:sp>
        <p:nvSpPr>
          <p:cNvPr id="9" name="data-used-body">
            <a:extLst xmlns:a="http://schemas.openxmlformats.org/drawingml/2006/main">
              <a:ext uri="{FF2B5EF4-FFF2-40B4-BE49-F238E27FC236}">
                <a16:creationId xmlns:a16="http://schemas.microsoft.com/office/drawing/2014/main" id="{B12E22E0-7375-433C-830B-6E996359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956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40,898 条历史地震目录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约25 km网格，共15,697格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长期75 km平滑背景 + 起报前30天近期活动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39个目标无关构造区用于异常空间置乱和区域稳健性</a:t>
            </a:r>
          </a:p>
        </p:txBody>
      </p:sp>
      <p:sp>
        <p:nvSpPr>
          <p:cNvPr id="10" name="data-studied-heading">
            <a:extLst xmlns:a="http://schemas.openxmlformats.org/drawingml/2006/main">
              <a:ext uri="{FF2B5EF4-FFF2-40B4-BE49-F238E27FC236}">
                <a16:creationId xmlns:a16="http://schemas.microsoft.com/office/drawing/2014/main" id="{79C54C98-CA6C-4C85-B8B1-B321795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526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9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研究过，但未带来主指标提升</a:t>
            </a:r>
          </a:p>
        </p:txBody>
      </p:sp>
      <p:sp>
        <p:nvSpPr>
          <p:cNvPr id="11" name="data-studied-body">
            <a:extLst xmlns:a="http://schemas.openxmlformats.org/drawingml/2006/main">
              <a:ext uri="{FF2B5EF4-FFF2-40B4-BE49-F238E27FC236}">
                <a16:creationId xmlns:a16="http://schemas.microsoft.com/office/drawing/2014/main" id="{E33B059E-882B-47AD-B1C4-D149673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3295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异常表：205个报告期、3,217,885条特征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异常模型做过时间与空间置乱，但没有形成主终点增益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断层与底图未进入最终 B0_R30 排序</a:t>
            </a:r>
          </a:p>
        </p:txBody>
      </p:sp>
      <p:sp>
        <p:nvSpPr>
          <p:cNvPr id="12" name="data-excluded-heading">
            <a:extLst xmlns:a="http://schemas.openxmlformats.org/drawingml/2006/main">
              <a:ext uri="{FF2B5EF4-FFF2-40B4-BE49-F238E27FC236}">
                <a16:creationId xmlns:a16="http://schemas.microsoft.com/office/drawing/2014/main" id="{0CE42FD5-AAA1-46BB-9F49-E64DA64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5463A"/>
                </a:solidFill>
                <a:latin typeface="Microsoft YaHei"/>
                <a:ea typeface="Microsoft YaHei"/>
                <a:cs typeface="Microsoft YaHei"/>
              </a:rPr>
              <a:t>明确排除</a:t>
            </a:r>
          </a:p>
        </p:txBody>
      </p:sp>
      <p:sp>
        <p:nvSpPr>
          <p:cNvPr id="13" name="data-excluded-body">
            <a:extLst xmlns:a="http://schemas.openxmlformats.org/drawingml/2006/main">
              <a:ext uri="{FF2B5EF4-FFF2-40B4-BE49-F238E27FC236}">
                <a16:creationId xmlns:a16="http://schemas.microsoft.com/office/drawing/2014/main" id="{1C5C968D-6769-4661-AD5F-B00A86B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3295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人工预测地点、震级与时间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起报日之后才出现的地震或异常信息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真实震中生成的候选区、边界或空间加密位置</a:t>
            </a:r>
          </a:p>
        </p:txBody>
      </p:sp>
      <p:sp>
        <p:nvSpPr>
          <p:cNvPr id="14" name="data-boundary-note">
            <a:extLst xmlns:a="http://schemas.openxmlformats.org/drawingml/2006/main">
              <a:ext uri="{FF2B5EF4-FFF2-40B4-BE49-F238E27FC236}">
                <a16:creationId xmlns:a16="http://schemas.microsoft.com/office/drawing/2014/main" id="{546493EB-EFF6-4B6F-A0F3-4204650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结论：异常数据不是被忽略，而是经过检验后没有进入冻结前瞻模型。</a:t>
            </a:r>
          </a:p>
        </p:txBody>
      </p:sp>
    </p:spTree>
    <p:extLst>
      <p:ext uri="{BB962C8B-B14F-4D97-AF65-F5344CB8AC3E}">
        <p14:creationId xmlns:p14="http://schemas.microsoft.com/office/powerpoint/2010/main" val="2024845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B120C8F4-0502-48C3-96B3-33B47BB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模型只看起报前信息：长期背景管“常发”，近期目录管“正在活跃”</a:t>
            </a:r>
          </a:p>
        </p:txBody>
      </p:sp>
      <p:cxnSp>
        <p:nvCxnSpPr>
          <p:cNvPr id="8" name="title-rule-4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</a:ln>
        </p:spPr>
      </p:cxnSp>
      <p:sp>
        <p:nvSpPr>
          <p:cNvPr id="3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F6557D13-8F5B-4176-A483-6FFBDE2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冻结方法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3EE7C2C-F067-42AD-8212-51F2759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17b7b780c4d83"/>
          <a:stretch xmlns:a="http://schemas.openxmlformats.org/drawingml/2006/main"/>
        </p:blipFill>
        <p:spPr>
          <a:xfrm xmlns:a="http://schemas.openxmlformats.org/drawingml/2006/main">
            <a:off x="918384" y="1381125"/>
            <a:ext cx="10355232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method-bottom-note">
            <a:extLst xmlns:a="http://schemas.openxmlformats.org/drawingml/2006/main">
              <a:ext uri="{FF2B5EF4-FFF2-40B4-BE49-F238E27FC236}">
                <a16:creationId xmlns:a16="http://schemas.microsoft.com/office/drawing/2014/main" id="{A32366CF-EFCA-4F6D-8CF4-5571010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24550"/>
            <a:ext cx="975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B0_R30 是相对强度排序，不是某地未来30天的绝对发震概率。</a:t>
            </a:r>
          </a:p>
        </p:txBody>
      </p:sp>
    </p:spTree>
    <p:extLst>
      <p:ext uri="{BB962C8B-B14F-4D97-AF65-F5344CB8AC3E}">
        <p14:creationId xmlns:p14="http://schemas.microsoft.com/office/powerpoint/2010/main" val="1713703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9DAB3228-0CC3-4965-9293-03347C8A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主结果：相同600,000 km²上限下，召回从5/21提高到9/21</a:t>
            </a:r>
          </a:p>
        </p:txBody>
      </p:sp>
      <p:cxnSp>
        <p:nvCxnSpPr>
          <p:cNvPr id="11" name="title-rule-5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8A72"/>
            </a:solidFill>
            <a:prstDash val="solid"/>
          </a:ln>
        </p:spPr>
      </p:cxnSp>
      <p:sp>
        <p:nvSpPr>
          <p:cNvPr id="3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7F574366-44D6-47CD-BCCF-A18D5D2C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总体效果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2C283E2-F807-420A-BE9C-0449C73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tag-bg-+4 个规则化震群">
            <a:extLst xmlns:a="http://schemas.openxmlformats.org/drawingml/2006/main">
              <a:ext uri="{FF2B5EF4-FFF2-40B4-BE49-F238E27FC236}">
                <a16:creationId xmlns:a16="http://schemas.microsoft.com/office/drawing/2014/main" id="{4EBA3EAD-9E2A-455B-9A9B-F5FCB7A0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g-text-+4 个规则化震群">
            <a:extLst xmlns:a="http://schemas.openxmlformats.org/drawingml/2006/main">
              <a:ext uri="{FF2B5EF4-FFF2-40B4-BE49-F238E27FC236}">
                <a16:creationId xmlns:a16="http://schemas.microsoft.com/office/drawing/2014/main" id="{CE6526EE-0F42-46B6-B91E-E640199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+4 个规则化震群</a:t>
            </a:r>
          </a:p>
        </p:txBody>
      </p:sp>
      <p:sp>
        <p:nvSpPr>
          <p:cNvPr id="7" name="tag-bg-+19.05 个百分点">
            <a:extLst xmlns:a="http://schemas.openxmlformats.org/drawingml/2006/main">
              <a:ext uri="{FF2B5EF4-FFF2-40B4-BE49-F238E27FC236}">
                <a16:creationId xmlns:a16="http://schemas.microsoft.com/office/drawing/2014/main" id="{F9318DF0-0EC5-4A11-9493-7486E242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5730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g-text-+19.05 个百分点">
            <a:extLst xmlns:a="http://schemas.openxmlformats.org/drawingml/2006/main">
              <a:ext uri="{FF2B5EF4-FFF2-40B4-BE49-F238E27FC236}">
                <a16:creationId xmlns:a16="http://schemas.microsoft.com/office/drawing/2014/main" id="{2BC89747-9305-4AEB-A090-5522DE6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95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+19.05 个百分点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480377ee14fc8"/>
          <a:stretch xmlns:a="http://schemas.openxmlformats.org/drawingml/2006/main"/>
        </p:blipFill>
        <p:spPr>
          <a:xfrm xmlns:a="http://schemas.openxmlformats.org/drawingml/2006/main">
            <a:off x="2017611" y="1657350"/>
            <a:ext cx="8156777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55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C242DCB-5A70-421D-B3F4-E0940B4A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看完全部21群：新增4群，没有出现“原来命中、后来丢失”</a:t>
            </a:r>
          </a:p>
        </p:txBody>
      </p:sp>
      <p:cxnSp>
        <p:nvCxnSpPr>
          <p:cNvPr id="7" name="title-rule-6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8A72"/>
            </a:solidFill>
            <a:prstDash val="solid"/>
          </a:ln>
        </p:spPr>
      </p:cxnSp>
      <p:sp>
        <p:nvSpPr>
          <p:cNvPr id="3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CE3F1EA6-A6BD-4621-A3FB-66B3854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全部目标</a:t>
            </a:r>
          </a:p>
        </p:txBody>
      </p:sp>
      <p:sp>
        <p:nvSpPr>
          <p:cNvPr id="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AC783CE-FC0B-4A04-ADFC-56ECFB98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4ac14e3fe47fb"/>
          <a:stretch xmlns:a="http://schemas.openxmlformats.org/drawingml/2006/main"/>
        </p:blipFill>
        <p:spPr>
          <a:xfrm xmlns:a="http://schemas.openxmlformats.org/drawingml/2006/main">
            <a:off x="2814128" y="1314450"/>
            <a:ext cx="6563743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46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19C33247-C4D6-4A89-826E-409C83D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提升集中在前两段时间外推，第三段没有改善</a:t>
            </a:r>
          </a:p>
        </p:txBody>
      </p:sp>
      <p:cxnSp>
        <p:nvCxnSpPr>
          <p:cNvPr id="11" name="title-rule-7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7A3F"/>
            </a:solidFill>
            <a:prstDash val="solid"/>
          </a:ln>
        </p:spPr>
      </p:cxnSp>
      <p:sp>
        <p:nvSpPr>
          <p:cNvPr id="3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E8B0B5F4-2CE3-4DA1-AB6D-54A762E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稳健性与边界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2A9B89D-A2CE-474B-BC49-BD127063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1638300"/>
          <a:ext xmlns:a="http://schemas.openxmlformats.org/drawingml/2006/main" cx="5905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671ae5f364655"/>
          </a:graphicData>
        </a:graphic>
      </p:graphicFrame>
      <p:sp>
        <p:nvSpPr>
          <p:cNvPr id="6" name="uncertainty-gain">
            <a:extLst xmlns:a="http://schemas.openxmlformats.org/drawingml/2006/main">
              <a:ext uri="{FF2B5EF4-FFF2-40B4-BE49-F238E27FC236}">
                <a16:creationId xmlns:a16="http://schemas.microsoft.com/office/drawing/2014/main" id="{48E107CD-317C-4FE4-A622-9C717F4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+19.05 pp</a:t>
            </a:r>
          </a:p>
        </p:txBody>
      </p:sp>
      <p:sp>
        <p:nvSpPr>
          <p:cNvPr id="7" name="uncertainty-ci">
            <a:extLst xmlns:a="http://schemas.openxmlformats.org/drawingml/2006/main">
              <a:ext uri="{FF2B5EF4-FFF2-40B4-BE49-F238E27FC236}">
                <a16:creationId xmlns:a16="http://schemas.microsoft.com/office/drawing/2014/main" id="{33F92AAD-0A24-4EC6-93A9-90668849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2000次配对震群 bootstrap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95%区间：+4.76 ～ +38.10 pp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正增益复本比例 = 0.9905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（非模型正确概率）</a:t>
            </a:r>
          </a:p>
        </p:txBody>
      </p:sp>
      <p:sp>
        <p:nvSpPr>
          <p:cNvPr id="8" name="uncertainty-warning-bg">
            <a:extLst xmlns:a="http://schemas.openxmlformats.org/drawingml/2006/main">
              <a:ext uri="{FF2B5EF4-FFF2-40B4-BE49-F238E27FC236}">
                <a16:creationId xmlns:a16="http://schemas.microsoft.com/office/drawing/2014/main" id="{94B5DD1D-7A50-4F89-84DF-C716EC4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248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uncertainty-warning">
            <a:extLst xmlns:a="http://schemas.openxmlformats.org/drawingml/2006/main">
              <a:ext uri="{FF2B5EF4-FFF2-40B4-BE49-F238E27FC236}">
                <a16:creationId xmlns:a16="http://schemas.microsoft.com/office/drawing/2014/main" id="{A2151D42-1BAF-42B1-8A43-4194855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需要正视的边界</a:t>
            </a:r>
          </a:p>
          <a:p xmlns:a="http://schemas.openxmlformats.org/drawingml/2006/main">
            <a:pPr algn="l">
              <a:def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折3为 0/7 → 0/7，当前提升还不能视为跨时期、跨区域稳定成立。</a:t>
            </a:r>
          </a:p>
        </p:txBody>
      </p:sp>
    </p:spTree>
    <p:extLst>
      <p:ext uri="{BB962C8B-B14F-4D97-AF65-F5344CB8AC3E}">
        <p14:creationId xmlns:p14="http://schemas.microsoft.com/office/powerpoint/2010/main" val="1043733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8CC97419-6489-4102-AA86-037ECA5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两个直观震例：近期活动把长期背景中不突出的区域推入报警区</a:t>
            </a:r>
          </a:p>
        </p:txBody>
      </p:sp>
      <p:cxnSp>
        <p:nvCxnSpPr>
          <p:cNvPr id="7" name="title-rule-8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7A3F"/>
            </a:solidFill>
            <a:prstDash val="solid"/>
          </a:ln>
        </p:spPr>
      </p:cxnSp>
      <p:sp>
        <p:nvSpPr>
          <p:cNvPr id="3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D97B0780-E4D0-408C-B9EF-9CCA4BD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震例解释</a:t>
            </a:r>
          </a:p>
        </p:txBody>
      </p:sp>
      <p:sp>
        <p:nvSpPr>
          <p:cNvPr id="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62058219-6184-4B93-BDFB-BE0548E7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f29b2f6844a9f"/>
          <a:stretch xmlns:a="http://schemas.openxmlformats.org/drawingml/2006/main"/>
        </p:blipFill>
        <p:spPr>
          <a:xfrm xmlns:a="http://schemas.openxmlformats.org/drawingml/2006/main">
            <a:off x="2521639" y="1257300"/>
            <a:ext cx="7148722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7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8C17DC22-E314-4927-A7B0-3D774B1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四个新增命中都来自优先级的大幅前移</a:t>
            </a:r>
          </a:p>
        </p:txBody>
      </p:sp>
      <p:cxnSp>
        <p:nvCxnSpPr>
          <p:cNvPr id="10" name="title-rule-9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8A72"/>
            </a:solidFill>
            <a:prstDash val="solid"/>
          </a:ln>
        </p:spPr>
      </p:cxnSp>
      <p:sp>
        <p:nvSpPr>
          <p:cNvPr id="3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A9F9C028-F22A-40C9-A1D0-C68AAD9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震例解释</a:t>
            </a:r>
          </a:p>
        </p:txBody>
      </p:sp>
      <p:sp>
        <p:nvSpPr>
          <p:cNvPr id="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AAA000FD-FCB6-43D4-B380-17D5549E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e291855e5473d"/>
          <a:stretch xmlns:a="http://schemas.openxmlformats.org/drawingml/2006/main"/>
        </p:blipFill>
        <p:spPr>
          <a:xfrm xmlns:a="http://schemas.openxmlformats.org/drawingml/2006/main">
            <a:off x="571500" y="1746272"/>
            <a:ext cx="7429500" cy="3746457"/>
          </a:xfrm>
          <a:prstGeom xmlns:a="http://schemas.openxmlformats.org/drawingml/2006/main" prst="rect">
            <a:avLst/>
          </a:prstGeom>
        </p:spPr>
      </p:pic>
      <p:sp>
        <p:nvSpPr>
          <p:cNvPr id="6" name="rank-heading">
            <a:extLst xmlns:a="http://schemas.openxmlformats.org/drawingml/2006/main">
              <a:ext uri="{FF2B5EF4-FFF2-40B4-BE49-F238E27FC236}">
                <a16:creationId xmlns:a16="http://schemas.microsoft.com/office/drawing/2014/main" id="{CE67243D-F115-46BD-9841-0DF5C00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目标格名次（越小越优先）</a:t>
            </a:r>
          </a:p>
        </p:txBody>
      </p:sp>
      <p:sp>
        <p:nvSpPr>
          <p:cNvPr id="7" name="rank-cases">
            <a:extLst xmlns:a="http://schemas.openxmlformats.org/drawingml/2006/main">
              <a:ext uri="{FF2B5EF4-FFF2-40B4-BE49-F238E27FC236}">
                <a16:creationId xmlns:a16="http://schemas.microsoft.com/office/drawing/2014/main" id="{C5C86B5E-8D2B-4630-8D81-96B21FF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肃北 M5.0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3912 → 194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杂多 M5.5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1669 → 153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库车 M5.0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2146 →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库车 M5.5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1725 → 3</a:t>
            </a:r>
          </a:p>
        </p:txBody>
      </p:sp>
      <p:sp>
        <p:nvSpPr>
          <p:cNvPr id="8" name="rank-caveat">
            <a:extLst xmlns:a="http://schemas.openxmlformats.org/drawingml/2006/main">
              <a:ext uri="{FF2B5EF4-FFF2-40B4-BE49-F238E27FC236}">
                <a16:creationId xmlns:a16="http://schemas.microsoft.com/office/drawing/2014/main" id="{431DB009-6745-4F2C-A99A-6F514ED2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768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两个库车事件落在同一个约25 km网格；震例用于解释，主结论仍以全部21群为准。</a:t>
            </a:r>
          </a:p>
        </p:txBody>
      </p:sp>
    </p:spTree>
    <p:extLst>
      <p:ext uri="{BB962C8B-B14F-4D97-AF65-F5344CB8AC3E}">
        <p14:creationId xmlns:p14="http://schemas.microsoft.com/office/powerpoint/2010/main" val="2061519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51F26224-283D-4ED8-9731-6D342D7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当前证据支持“值得前瞻验证”，还不支持“已经实现真实预测”</a:t>
            </a:r>
          </a:p>
        </p:txBody>
      </p:sp>
      <p:cxnSp>
        <p:nvCxnSpPr>
          <p:cNvPr id="12" name="title-rule-10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7A3F"/>
            </a:solidFill>
            <a:prstDash val="solid"/>
          </a:ln>
        </p:spPr>
      </p:cxnSp>
      <p:sp>
        <p:nvSpPr>
          <p:cNvPr id="3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4D46025B-6A42-4507-A57D-4DC76DBA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科学结论</a:t>
            </a:r>
          </a:p>
        </p:txBody>
      </p:sp>
      <p:sp>
        <p:nvSpPr>
          <p:cNvPr id="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E533D07D-6DED-481E-BEB1-2D777AE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upported-heading">
            <a:extLst xmlns:a="http://schemas.openxmlformats.org/drawingml/2006/main">
              <a:ext uri="{FF2B5EF4-FFF2-40B4-BE49-F238E27FC236}">
                <a16:creationId xmlns:a16="http://schemas.microsoft.com/office/drawing/2014/main" id="{BFD8C24D-75DB-44A7-828D-0140664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已经得到的证据</a:t>
            </a:r>
          </a:p>
        </p:txBody>
      </p:sp>
      <p:sp>
        <p:nvSpPr>
          <p:cNvPr id="6" name="supported-body">
            <a:extLst xmlns:a="http://schemas.openxmlformats.org/drawingml/2006/main">
              <a:ext uri="{FF2B5EF4-FFF2-40B4-BE49-F238E27FC236}">
                <a16:creationId xmlns:a16="http://schemas.microsoft.com/office/drawing/2014/main" id="{3CBD95E2-9465-49DA-8026-F1BEB3E3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固定面积历史回放中，规则化震群召回增加4群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21群配对结果为4个新增命中、0个反向丢失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条件Bootstrap区间为+4.76至+38.10个百分点</a:t>
            </a:r>
          </a:p>
        </p:txBody>
      </p:sp>
      <p:sp>
        <p:nvSpPr>
          <p:cNvPr id="7" name="conclusion-divider">
            <a:extLst xmlns:a="http://schemas.openxmlformats.org/drawingml/2006/main">
              <a:ext uri="{FF2B5EF4-FFF2-40B4-BE49-F238E27FC236}">
                <a16:creationId xmlns:a16="http://schemas.microsoft.com/office/drawing/2014/main" id="{CA46E0C4-00AA-4CE9-9B6F-E623DEC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621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unsupported-heading">
            <a:extLst xmlns:a="http://schemas.openxmlformats.org/drawingml/2006/main">
              <a:ext uri="{FF2B5EF4-FFF2-40B4-BE49-F238E27FC236}">
                <a16:creationId xmlns:a16="http://schemas.microsoft.com/office/drawing/2014/main" id="{BC0058F1-DE3A-4DDF-AFB1-E768752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仍然不能下的结论</a:t>
            </a:r>
          </a:p>
        </p:txBody>
      </p:sp>
      <p:sp>
        <p:nvSpPr>
          <p:cNvPr id="9" name="unsupported-body">
            <a:extLst xmlns:a="http://schemas.openxmlformats.org/drawingml/2006/main">
              <a:ext uri="{FF2B5EF4-FFF2-40B4-BE49-F238E27FC236}">
                <a16:creationId xmlns:a16="http://schemas.microsoft.com/office/drawing/2014/main" id="{5C235C55-E4E4-4C1C-A13A-7F48BB41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截至2026年8月31日真实前瞻为0期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折3没有改善，地理与时期泛化仍待验证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相对强度不是绝对发震概率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• ETAS数值资格未通过，当前无法形成可评价对照分数</a:t>
            </a:r>
          </a:p>
        </p:txBody>
      </p:sp>
      <p:sp>
        <p:nvSpPr>
          <p:cNvPr id="10" name="conclusion-bottom">
            <a:extLst xmlns:a="http://schemas.openxmlformats.org/drawingml/2006/main">
              <a:ext uri="{FF2B5EF4-FFF2-40B4-BE49-F238E27FC236}">
                <a16:creationId xmlns:a16="http://schemas.microsoft.com/office/drawing/2014/main" id="{348DC43C-F522-4F61-8DBD-8A61D03B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因此，最有科学价值的下一步是保持模型不变，接受真实前瞻检验。</a:t>
            </a:r>
          </a:p>
        </p:txBody>
      </p:sp>
    </p:spTree>
    <p:extLst>
      <p:ext uri="{BB962C8B-B14F-4D97-AF65-F5344CB8AC3E}">
        <p14:creationId xmlns:p14="http://schemas.microsoft.com/office/powerpoint/2010/main" val="127997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110ADC47-751A-49C8-A5D0-534EFA71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下一步保持模型冻结，从首个合法时刻开始真实前瞻</a:t>
            </a:r>
          </a:p>
        </p:txBody>
      </p:sp>
      <p:cxnSp>
        <p:nvCxnSpPr>
          <p:cNvPr id="22" name="title-rule-11"/>
          <p:cNvCxnSpPr/>
          <p:nvPr/>
        </p:nvCxn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</a:ln>
        </p:spPr>
      </p:cxnSp>
      <p:sp>
        <p:nvSpPr>
          <p:cNvPr id="3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084A7E9B-0EE3-4771-879C-C70A2B7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真实前瞻</a:t>
            </a:r>
          </a:p>
        </p:txBody>
      </p:sp>
      <p:sp>
        <p:nvSpPr>
          <p:cNvPr id="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F8F4C40B-E6BD-418E-8695-0CFBE78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prospective-intro">
            <a:extLst xmlns:a="http://schemas.openxmlformats.org/drawingml/2006/main">
              <a:ext uri="{FF2B5EF4-FFF2-40B4-BE49-F238E27FC236}">
                <a16:creationId xmlns:a16="http://schemas.microsoft.com/office/drawing/2014/main" id="{6428354E-7A87-4353-99C2-D22DAE1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冻结同一模型、同一面积上限、同一指标；预测保存后不得回写。</a:t>
            </a:r>
          </a:p>
        </p:txBody>
      </p:sp>
      <p:cxnSp>
        <p:nvCxnSpPr>
          <p:cNvPr id="26" name="prospective-timeline-line"/>
          <p:cNvCxnSpPr/>
          <p:nvPr/>
        </p:nvCxnSpPr>
        <p:spPr>
          <a:xfrm xmlns:a="http://schemas.openxmlformats.org/drawingml/2006/main">
            <a:off x="1619250" y="3333750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</a:ln>
        </p:spPr>
      </p:cxnSp>
      <p:sp>
        <p:nvSpPr>
          <p:cNvPr id="7" name="prospective-node-1">
            <a:extLst xmlns:a="http://schemas.openxmlformats.org/drawingml/2006/main">
              <a:ext uri="{FF2B5EF4-FFF2-40B4-BE49-F238E27FC236}">
                <a16:creationId xmlns:a16="http://schemas.microsoft.com/office/drawing/2014/main" id="{5B8CCAFF-C602-43E3-811B-F466A40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spective-label-1">
            <a:extLst xmlns:a="http://schemas.openxmlformats.org/drawingml/2006/main">
              <a:ext uri="{FF2B5EF4-FFF2-40B4-BE49-F238E27FC236}">
                <a16:creationId xmlns:a16="http://schemas.microsoft.com/office/drawing/2014/main" id="{DB11E19E-C5AC-4FAD-8426-346FDF4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首期合法起报</a:t>
            </a:r>
          </a:p>
        </p:txBody>
      </p:sp>
      <p:sp>
        <p:nvSpPr>
          <p:cNvPr id="9" name="prospective-date-1">
            <a:extLst xmlns:a="http://schemas.openxmlformats.org/drawingml/2006/main">
              <a:ext uri="{FF2B5EF4-FFF2-40B4-BE49-F238E27FC236}">
                <a16:creationId xmlns:a16="http://schemas.microsoft.com/office/drawing/2014/main" id="{2B669960-5BE2-4B1A-8B27-41B33BA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2026-09-10 00:00</a:t>
            </a:r>
          </a:p>
        </p:txBody>
      </p:sp>
      <p:sp>
        <p:nvSpPr>
          <p:cNvPr id="10" name="prospective-body-1">
            <a:extLst xmlns:a="http://schemas.openxmlformats.org/drawingml/2006/main">
              <a:ext uri="{FF2B5EF4-FFF2-40B4-BE49-F238E27FC236}">
                <a16:creationId xmlns:a16="http://schemas.microsoft.com/office/drawing/2014/main" id="{C2CB219E-F047-47B7-92CA-A65A43C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保存不可回写的空间排序、静态图和离线交互页</a:t>
            </a:r>
          </a:p>
        </p:txBody>
      </p:sp>
      <p:sp>
        <p:nvSpPr>
          <p:cNvPr id="11" name="prospective-node-2">
            <a:extLst xmlns:a="http://schemas.openxmlformats.org/drawingml/2006/main">
              <a:ext uri="{FF2B5EF4-FFF2-40B4-BE49-F238E27FC236}">
                <a16:creationId xmlns:a16="http://schemas.microsoft.com/office/drawing/2014/main" id="{52EA8748-C7FF-4F93-8722-56FA2A9D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spective-label-2">
            <a:extLst xmlns:a="http://schemas.openxmlformats.org/drawingml/2006/main">
              <a:ext uri="{FF2B5EF4-FFF2-40B4-BE49-F238E27FC236}">
                <a16:creationId xmlns:a16="http://schemas.microsoft.com/office/drawing/2014/main" id="{CA207324-BDBF-4226-AF43-D46557B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8A72"/>
                </a:solidFill>
                <a:latin typeface="Microsoft YaHei"/>
                <a:ea typeface="Microsoft YaHei"/>
                <a:cs typeface="Microsoft YaHei"/>
              </a:rPr>
              <a:t>30天成熟</a:t>
            </a:r>
          </a:p>
        </p:txBody>
      </p:sp>
      <p:sp>
        <p:nvSpPr>
          <p:cNvPr id="13" name="prospective-date-2">
            <a:extLst xmlns:a="http://schemas.openxmlformats.org/drawingml/2006/main">
              <a:ext uri="{FF2B5EF4-FFF2-40B4-BE49-F238E27FC236}">
                <a16:creationId xmlns:a16="http://schemas.microsoft.com/office/drawing/2014/main" id="{F4728A39-C33E-4CDB-9901-A892E12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主终点评价</a:t>
            </a:r>
          </a:p>
        </p:txBody>
      </p:sp>
      <p:sp>
        <p:nvSpPr>
          <p:cNvPr id="14" name="prospective-body-2">
            <a:extLst xmlns:a="http://schemas.openxmlformats.org/drawingml/2006/main">
              <a:ext uri="{FF2B5EF4-FFF2-40B4-BE49-F238E27FC236}">
                <a16:creationId xmlns:a16="http://schemas.microsoft.com/office/drawing/2014/main" id="{7A582FD0-7AAF-4F45-BC3F-643FA30E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按相同报警面积上限比较规则化 M5–6 震群召回</a:t>
            </a:r>
          </a:p>
        </p:txBody>
      </p:sp>
      <p:sp>
        <p:nvSpPr>
          <p:cNvPr id="15" name="prospective-node-3">
            <a:extLst xmlns:a="http://schemas.openxmlformats.org/drawingml/2006/main">
              <a:ext uri="{FF2B5EF4-FFF2-40B4-BE49-F238E27FC236}">
                <a16:creationId xmlns:a16="http://schemas.microsoft.com/office/drawing/2014/main" id="{3331CE6A-196C-47BE-A5CB-72DC2C78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spective-label-3">
            <a:extLst xmlns:a="http://schemas.openxmlformats.org/drawingml/2006/main">
              <a:ext uri="{FF2B5EF4-FFF2-40B4-BE49-F238E27FC236}">
                <a16:creationId xmlns:a16="http://schemas.microsoft.com/office/drawing/2014/main" id="{D13443EF-3B5D-47AE-B75F-7ABE8C18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90天成熟</a:t>
            </a:r>
          </a:p>
        </p:txBody>
      </p:sp>
      <p:sp>
        <p:nvSpPr>
          <p:cNvPr id="17" name="prospective-date-3">
            <a:extLst xmlns:a="http://schemas.openxmlformats.org/drawingml/2006/main">
              <a:ext uri="{FF2B5EF4-FFF2-40B4-BE49-F238E27FC236}">
                <a16:creationId xmlns:a16="http://schemas.microsoft.com/office/drawing/2014/main" id="{989B3246-544B-4FDE-8C16-B0062B0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补充评价</a:t>
            </a:r>
          </a:p>
        </p:txBody>
      </p:sp>
      <p:sp>
        <p:nvSpPr>
          <p:cNvPr id="18" name="prospective-body-3">
            <a:extLst xmlns:a="http://schemas.openxmlformats.org/drawingml/2006/main">
              <a:ext uri="{FF2B5EF4-FFF2-40B4-BE49-F238E27FC236}">
                <a16:creationId xmlns:a16="http://schemas.microsoft.com/office/drawing/2014/main" id="{48DE68EF-93F3-49D4-9F97-06C916D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检验较长窗口下结论是否一致</a:t>
            </a:r>
          </a:p>
        </p:txBody>
      </p:sp>
      <p:sp>
        <p:nvSpPr>
          <p:cNvPr id="19" name="prospective-status-bg">
            <a:extLst xmlns:a="http://schemas.openxmlformats.org/drawingml/2006/main">
              <a:ext uri="{FF2B5EF4-FFF2-40B4-BE49-F238E27FC236}">
                <a16:creationId xmlns:a16="http://schemas.microsoft.com/office/drawing/2014/main" id="{E13DF59B-0147-4DBB-81F4-CB91067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91150"/>
            <a:ext cx="769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spective-status">
            <a:extLst xmlns:a="http://schemas.openxmlformats.org/drawingml/2006/main">
              <a:ext uri="{FF2B5EF4-FFF2-40B4-BE49-F238E27FC236}">
                <a16:creationId xmlns:a16="http://schemas.microsoft.com/office/drawing/2014/main" id="{F86D5604-0C8C-4885-9D39-680B390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62600"/>
            <a:ext cx="720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当前状态：真实前瞻已获授权，但首期起报尚未发生，目前为0期。</a:t>
            </a:r>
          </a:p>
        </p:txBody>
      </p:sp>
    </p:spTree>
    <p:extLst>
      <p:ext uri="{BB962C8B-B14F-4D97-AF65-F5344CB8AC3E}">
        <p14:creationId xmlns:p14="http://schemas.microsoft.com/office/powerpoint/2010/main" val="1075124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748B788-169E-4E5A-805A-DB19B70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SEISMOFLUX · 当前科学结论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F67750F-E7B4-4D14-8549-AFA5A667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1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历史回放给出积极信号，</a:t>
            </a:r>
          </a:p>
          <a:p xmlns:a="http://schemas.openxmlformats.org/drawingml/2006/main">
            <a: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真实前瞻决定它能否成立</a:t>
            </a:r>
          </a:p>
        </p:txBody>
      </p:sp>
      <p:sp>
        <p:nvSpPr>
          <p:cNvPr id="3" name="close-summary-bg">
            <a:extLst xmlns:a="http://schemas.openxmlformats.org/drawingml/2006/main">
              <a:ext uri="{FF2B5EF4-FFF2-40B4-BE49-F238E27FC236}">
                <a16:creationId xmlns:a16="http://schemas.microsoft.com/office/drawing/2014/main" id="{92D2B22E-62C1-4238-990A-79AEC47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summary-1">
            <a:extLst xmlns:a="http://schemas.openxmlformats.org/drawingml/2006/main">
              <a:ext uri="{FF2B5EF4-FFF2-40B4-BE49-F238E27FC236}">
                <a16:creationId xmlns:a16="http://schemas.microsoft.com/office/drawing/2014/main" id="{87F3BAB4-1429-406A-9D00-EF00093D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5" name="close-summary-1-label">
            <a:extLst xmlns:a="http://schemas.openxmlformats.org/drawingml/2006/main">
              <a:ext uri="{FF2B5EF4-FFF2-40B4-BE49-F238E27FC236}">
                <a16:creationId xmlns:a16="http://schemas.microsoft.com/office/drawing/2014/main" id="{E42A21AE-EABA-40AC-9D92-243B0B9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69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历史回放新增命中震群</a:t>
            </a:r>
          </a:p>
        </p:txBody>
      </p:sp>
      <p:sp>
        <p:nvSpPr>
          <p:cNvPr id="6" name="close-summary-2">
            <a:extLst xmlns:a="http://schemas.openxmlformats.org/drawingml/2006/main">
              <a:ext uri="{FF2B5EF4-FFF2-40B4-BE49-F238E27FC236}">
                <a16:creationId xmlns:a16="http://schemas.microsoft.com/office/drawing/2014/main" id="{94291716-168D-4E13-B80D-D924C5B8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折3：0 → 0</a:t>
            </a:r>
          </a:p>
        </p:txBody>
      </p:sp>
      <p:sp>
        <p:nvSpPr>
          <p:cNvPr id="7" name="close-summary-2-label">
            <a:extLst xmlns:a="http://schemas.openxmlformats.org/drawingml/2006/main">
              <a:ext uri="{FF2B5EF4-FFF2-40B4-BE49-F238E27FC236}">
                <a16:creationId xmlns:a16="http://schemas.microsoft.com/office/drawing/2014/main" id="{A4E5BC35-CA34-4C3B-B293-F76BCC0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14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泛化边界仍然存在</a:t>
            </a:r>
          </a:p>
        </p:txBody>
      </p:sp>
      <p:sp>
        <p:nvSpPr>
          <p:cNvPr id="8" name="close-summary-3">
            <a:extLst xmlns:a="http://schemas.openxmlformats.org/drawingml/2006/main">
              <a:ext uri="{FF2B5EF4-FFF2-40B4-BE49-F238E27FC236}">
                <a16:creationId xmlns:a16="http://schemas.microsoft.com/office/drawing/2014/main" id="{41B047BA-1E2C-41F4-ABB0-D639D24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30 / 90 天</a:t>
            </a:r>
          </a:p>
        </p:txBody>
      </p:sp>
      <p:sp>
        <p:nvSpPr>
          <p:cNvPr id="9" name="close-summary-3-label">
            <a:extLst xmlns:a="http://schemas.openxmlformats.org/drawingml/2006/main">
              <a:ext uri="{FF2B5EF4-FFF2-40B4-BE49-F238E27FC236}">
                <a16:creationId xmlns:a16="http://schemas.microsoft.com/office/drawing/2014/main" id="{C86537BB-D44C-45C0-AEDA-E429DCF8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7"/>
                </a:solidFill>
                <a:latin typeface="Microsoft YaHei"/>
                <a:ea typeface="Microsoft YaHei"/>
                <a:cs typeface="Microsoft YaHei"/>
              </a:rPr>
              <a:t>从0期开始真实前瞻</a:t>
            </a:r>
          </a:p>
        </p:txBody>
      </p:sp>
      <p:sp>
        <p:nvSpPr>
          <p:cNvPr id="10" name="close-final-line">
            <a:extLst xmlns:a="http://schemas.openxmlformats.org/drawingml/2006/main">
              <a:ext uri="{FF2B5EF4-FFF2-40B4-BE49-F238E27FC236}">
                <a16:creationId xmlns:a16="http://schemas.microsoft.com/office/drawing/2014/main" id="{7E147AC9-40A5-4B36-B071-3284ACD8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29300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保留这次提升最可信的方式，是让下一批真实地震来回答。</a:t>
            </a:r>
          </a:p>
        </p:txBody>
      </p:sp>
    </p:spTree>
    <p:extLst>
      <p:ext uri="{BB962C8B-B14F-4D97-AF65-F5344CB8AC3E}">
        <p14:creationId xmlns:p14="http://schemas.microsoft.com/office/powerpoint/2010/main" val="592391881"/>
      </p:ext>
    </p:extLst>
  </p:cSld>
</p:sld>
</file>

<file path=ppt/theme/theme1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SeismoFlux：固定报警面积下的近期地震活动增益</dc:title>
  <ns2:created xsi:type="dcterms:W3CDTF">2026-08-31T08:42:09.1880000Z</ns2:created>
  <ns2:modified xsi:type="dcterms:W3CDTF">2026-08-31T08:42:09.1890000Z</ns2:modified>
</ns0:coreProperties>
</file>
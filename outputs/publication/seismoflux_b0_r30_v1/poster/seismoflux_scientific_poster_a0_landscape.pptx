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4a6a7f464a4d3d" /><Relationship Type="http://schemas.openxmlformats.org/officeDocument/2006/relationships/extended-properties" Target="/docProps/app.xml" Id="R089713a080f64706" /><Relationship Type="http://schemas.openxmlformats.org/officeDocument/2006/relationships/officeDocument" Target="/ppt/presentation.xml" Id="R65786d2714d44e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67eed3c91a40a2"/>
  </p:sldMasterIdLst>
  <p:notesMasterIdLst>
    <p:notesMasterId xmlns:r="http://schemas.openxmlformats.org/officeDocument/2006/relationships" r:id="R1aa92e2ff9f54d88"/>
  </p:notesMasterIdLst>
  <p:sldIdLst>
    <p:sldId xmlns:r="http://schemas.openxmlformats.org/officeDocument/2006/relationships" id="256" r:id="Rb8ac8854819a436c"/>
  </p:sldIdLst>
  <p:sldSz cx="42795825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374a42371048d5" /><Relationship Type="http://schemas.openxmlformats.org/officeDocument/2006/relationships/slideMaster" Target="/ppt/slideMasters/slideMaster1.xml" Id="Rfe67eed3c91a40a2" /><Relationship Type="http://schemas.openxmlformats.org/officeDocument/2006/relationships/notesMaster" Target="/ppt/notesMasters/notesMaster1.xml" Id="R1aa92e2ff9f54d88" /><Relationship Type="http://schemas.openxmlformats.org/officeDocument/2006/relationships/presProps" Target="/ppt/presProps.xml" Id="R1629a437ba134a5a" /><Relationship Type="http://schemas.openxmlformats.org/officeDocument/2006/relationships/tableStyles" Target="/ppt/tableStyles.xml" Id="R3ca721f6d1af4dc0" /><Relationship Type="http://schemas.openxmlformats.org/officeDocument/2006/relationships/slide" Target="/ppt/slides/slide1.xml" Id="Rb8ac8854819a43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c6ba3f92644a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eismoFlux">
  <a:themeElements>
    <a:clrScheme name="SeismoFlux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ismoFlu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dbda4afd904fa3" /><Relationship Type="http://schemas.openxmlformats.org/officeDocument/2006/relationships/notesMaster" Target="/ppt/notesMasters/notesMaster1.xml" Id="Re750d5caf52b48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primary metrics: outputs/publication/seismoflux_b0_r30_v1/figure_data/primary_metrics.csv</a:t>
            </a:r>
          </a:p>
          <a:p xmlns:a="http://schemas.openxmlformats.org/drawingml/2006/main">
            <a:r>
              <a:t>All-cluster outcomes: outputs/publication/seismoflux_b0_r30_v1/figure_data/cluster_outcomes_30d_600k.csv</a:t>
            </a:r>
          </a:p>
          <a:p xmlns:a="http://schemas.openxmlformats.org/drawingml/2006/main">
            <a:r>
              <a:t>Illustrative cases: outputs/publication/seismoflux_b0_r30_v1/figure_data/illustrative_case_summary.csv</a:t>
            </a:r>
          </a:p>
          <a:p xmlns:a="http://schemas.openxmlformats.org/drawingml/2006/main">
            <a:r>
              <a:t>Embedded scientific figures: outputs/publication/seismoflux_b0_r30_v1/figures/figure_01_primary_result.svg through figure_05_method_overview.svg</a:t>
            </a:r>
          </a:p>
          <a:p xmlns:a="http://schemas.openxmlformats.org/drawingml/2006/main">
            <a:r>
              <a:t>No external visual assets are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d8fcf861e48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006d369c5943be" /><Relationship Type="http://schemas.openxmlformats.org/officeDocument/2006/relationships/slideLayout" Target="/ppt/slideLayouts/slideLayout1.xml" Id="R1918ab5a3e1d45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18ab5a3e1d45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SeismoFlux">
  <a:themeElements>
    <a:clrScheme name="SeismoFlux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ismoFlu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89e489f5f49af" /><Relationship Type="http://schemas.openxmlformats.org/officeDocument/2006/relationships/image" Target="/ppt/media/image.png" Id="R32d7381a4409462c" /><Relationship Type="http://schemas.openxmlformats.org/officeDocument/2006/relationships/image" Target="/ppt/media/image.svg" Id="Ra924bac5934f4b81" /><Relationship Type="http://schemas.openxmlformats.org/officeDocument/2006/relationships/image" Target="/ppt/media/image2.png" Id="Rc080d002d78b4083" /><Relationship Type="http://schemas.openxmlformats.org/officeDocument/2006/relationships/image" Target="/ppt/media/image2.svg" Id="R8a9debd9207646a2" /><Relationship Type="http://schemas.openxmlformats.org/officeDocument/2006/relationships/image" Target="/ppt/media/image3.png" Id="R294750d6bb604b2e" /><Relationship Type="http://schemas.openxmlformats.org/officeDocument/2006/relationships/image" Target="/ppt/media/image3.svg" Id="Re3e11144a3cf4b1b" /><Relationship Type="http://schemas.openxmlformats.org/officeDocument/2006/relationships/image" Target="/ppt/media/image4.png" Id="Rb857f2c96f6d4472" /><Relationship Type="http://schemas.openxmlformats.org/officeDocument/2006/relationships/image" Target="/ppt/media/image4.svg" Id="R63dd1638953641cd" /><Relationship Type="http://schemas.openxmlformats.org/officeDocument/2006/relationships/image" Target="/ppt/media/image5.png" Id="Rbb9a17c129f74be4" /><Relationship Type="http://schemas.openxmlformats.org/officeDocument/2006/relationships/image" Target="/ppt/media/image5.svg" Id="R2a5e43dad68c4f0c" /><Relationship Type="http://schemas.openxmlformats.org/officeDocument/2006/relationships/notesSlide" Target="/ppt/notesSlides/notesSlide1.xml" Id="Rb1ca57ac660a48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header">
            <a:extLst xmlns:a="http://schemas.openxmlformats.org/drawingml/2006/main">
              <a:ext uri="{FF2B5EF4-FFF2-40B4-BE49-F238E27FC236}">
                <a16:creationId xmlns:a16="http://schemas.microsoft.com/office/drawing/2014/main" id="{BF2BE347-CBD1-4254-80F7-48417EF3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7958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1B0D9D40-127C-41BD-8C9A-7537DF3D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ader-kicker">
            <a:extLst xmlns:a="http://schemas.openxmlformats.org/drawingml/2006/main">
              <a:ext uri="{FF2B5EF4-FFF2-40B4-BE49-F238E27FC236}">
                <a16:creationId xmlns:a16="http://schemas.microsoft.com/office/drawing/2014/main" id="{9DA64961-5821-40E3-ABDB-208AEB5E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"/>
            <a:ext cx="2667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BFD3D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FD3DE"/>
                </a:solidFill>
                <a:latin typeface="Arial"/>
                <a:ea typeface="Arial"/>
                <a:cs typeface="Arial"/>
              </a:rPr>
              <a:t>SEISMOFLUX  ·  HISTORICAL DEVELOPMENT EVIDENCE</a:t>
            </a:r>
          </a:p>
        </p:txBody>
      </p:sp>
      <p:sp>
        <p:nvSpPr>
          <p:cNvPr id="4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104DE7D8-6BE4-4429-BFCA-C5A1E191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90600"/>
            <a:ext cx="27717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相同报警面积上限下，近期地震活动可提高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规则化 M5–6 震群召回</a:t>
            </a:r>
          </a:p>
        </p:txBody>
      </p:sp>
      <p:sp>
        <p:nvSpPr>
          <p:cNvPr id="5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4808FEAC-14EC-42C1-8E41-2AAD6800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81350"/>
            <a:ext cx="2714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D8E6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D8E6EC"/>
                </a:solidFill>
                <a:latin typeface="Microsoft YaHei"/>
                <a:ea typeface="Microsoft YaHei"/>
                <a:cs typeface="Microsoft YaHei"/>
              </a:rPr>
              <a:t>75 km 地震活动背景（B0）与近期 30 天 M4+ 信息融合（B0_R30）的冻结历史评估</a:t>
            </a:r>
          </a:p>
        </p:txBody>
      </p:sp>
      <p:sp>
        <p:nvSpPr>
          <p:cNvPr id="6" name="header-metric">
            <a:extLst xmlns:a="http://schemas.openxmlformats.org/drawingml/2006/main">
              <a:ext uri="{FF2B5EF4-FFF2-40B4-BE49-F238E27FC236}">
                <a16:creationId xmlns:a16="http://schemas.microsoft.com/office/drawing/2014/main" id="{25643DD4-C483-42BE-8C01-55BCA958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0" y="876300"/>
            <a:ext cx="11572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0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/ 21  →  9 / 21</a:t>
            </a:r>
          </a:p>
        </p:txBody>
      </p:sp>
      <p:sp>
        <p:nvSpPr>
          <p:cNvPr id="7" name="header-gain">
            <a:extLst xmlns:a="http://schemas.openxmlformats.org/drawingml/2006/main">
              <a:ext uri="{FF2B5EF4-FFF2-40B4-BE49-F238E27FC236}">
                <a16:creationId xmlns:a16="http://schemas.microsoft.com/office/drawing/2014/main" id="{5AE92ADE-0E58-4C76-90DA-D9AC4417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0" y="2333625"/>
            <a:ext cx="1042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FFB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B39F"/>
                </a:solidFill>
                <a:latin typeface="Microsoft YaHei"/>
                <a:ea typeface="Microsoft YaHei"/>
                <a:cs typeface="Microsoft YaHei"/>
              </a:rPr>
              <a:t>+19.05 个百分点</a:t>
            </a:r>
          </a:p>
        </p:txBody>
      </p:sp>
      <p:sp>
        <p:nvSpPr>
          <p:cNvPr id="8" name="header-area">
            <a:extLst xmlns:a="http://schemas.openxmlformats.org/drawingml/2006/main">
              <a:ext uri="{FF2B5EF4-FFF2-40B4-BE49-F238E27FC236}">
                <a16:creationId xmlns:a16="http://schemas.microsoft.com/office/drawing/2014/main" id="{EC4B327E-BDB1-4914-8697-553ECFAE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0" y="310515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D8E6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8E6EC"/>
                </a:solidFill>
                <a:latin typeface="Microsoft YaHei"/>
                <a:ea typeface="Microsoft YaHei"/>
                <a:cs typeface="Microsoft YaHei"/>
              </a:rPr>
              <a:t>相同 600,000 km² 面积上限</a:t>
            </a:r>
          </a:p>
        </p:txBody>
      </p:sp>
      <p:sp>
        <p:nvSpPr>
          <p:cNvPr id="9" name="column-divider-left">
            <a:extLst xmlns:a="http://schemas.openxmlformats.org/drawingml/2006/main">
              <a:ext uri="{FF2B5EF4-FFF2-40B4-BE49-F238E27FC236}">
                <a16:creationId xmlns:a16="http://schemas.microsoft.com/office/drawing/2014/main" id="{76B38D91-977F-495A-BBA5-93A2E149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619625"/>
            <a:ext cx="28575" cy="2352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lumn-divider-right">
            <a:extLst xmlns:a="http://schemas.openxmlformats.org/drawingml/2006/main">
              <a:ext uri="{FF2B5EF4-FFF2-40B4-BE49-F238E27FC236}">
                <a16:creationId xmlns:a16="http://schemas.microsoft.com/office/drawing/2014/main" id="{EC4A64E3-C14A-4455-AA9F-84969D8B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6950" y="4619625"/>
            <a:ext cx="28575" cy="2352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eft-column-title">
            <a:extLst xmlns:a="http://schemas.openxmlformats.org/drawingml/2006/main">
              <a:ext uri="{FF2B5EF4-FFF2-40B4-BE49-F238E27FC236}">
                <a16:creationId xmlns:a16="http://schemas.microsoft.com/office/drawing/2014/main" id="{45FC31EE-DB53-447B-BA9F-59E128F7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1209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7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rPr>
              <a:t>问题、数据与冻结方法</a:t>
            </a:r>
          </a:p>
        </p:txBody>
      </p:sp>
      <p:sp>
        <p:nvSpPr>
          <p:cNvPr id="12" name="left-column-accent">
            <a:extLst xmlns:a="http://schemas.openxmlformats.org/drawingml/2006/main">
              <a:ext uri="{FF2B5EF4-FFF2-40B4-BE49-F238E27FC236}">
                <a16:creationId xmlns:a16="http://schemas.microsoft.com/office/drawing/2014/main" id="{A83CB467-5A35-4F64-94A1-51A72DF2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00650"/>
            <a:ext cx="1257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eft-column-rule">
            <a:extLst xmlns:a="http://schemas.openxmlformats.org/drawingml/2006/main">
              <a:ext uri="{FF2B5EF4-FFF2-40B4-BE49-F238E27FC236}">
                <a16:creationId xmlns:a16="http://schemas.microsoft.com/office/drawing/2014/main" id="{2F15C7DB-18B1-41EF-BCFD-BDCFFFA5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38750"/>
            <a:ext cx="1068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question-callout">
            <a:extLst xmlns:a="http://schemas.openxmlformats.org/drawingml/2006/main">
              <a:ext uri="{FF2B5EF4-FFF2-40B4-BE49-F238E27FC236}">
                <a16:creationId xmlns:a16="http://schemas.microsoft.com/office/drawing/2014/main" id="{B1C36CB7-D1AD-4D4B-A45D-BCC401BD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1209675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question-callout-title">
            <a:extLst xmlns:a="http://schemas.openxmlformats.org/drawingml/2006/main">
              <a:ext uri="{FF2B5EF4-FFF2-40B4-BE49-F238E27FC236}">
                <a16:creationId xmlns:a16="http://schemas.microsoft.com/office/drawing/2014/main" id="{AD1018BF-0881-493C-9A71-09D57FC8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57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</a:p>
        </p:txBody>
      </p:sp>
      <p:sp>
        <p:nvSpPr>
          <p:cNvPr id="16" name="question-callout-body">
            <a:extLst xmlns:a="http://schemas.openxmlformats.org/drawingml/2006/main">
              <a:ext uri="{FF2B5EF4-FFF2-40B4-BE49-F238E27FC236}">
                <a16:creationId xmlns:a16="http://schemas.microsoft.com/office/drawing/2014/main" id="{0DDF29B5-F4FA-4C1C-8837-1100731D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153150"/>
            <a:ext cx="11487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在报警面积上限不提高的前提下，近期地震活动能否帮助模型找到更多未来 30 天内的规则化 M5–6 震群？</a:t>
            </a:r>
          </a:p>
        </p:txBody>
      </p:sp>
      <p:sp>
        <p:nvSpPr>
          <p:cNvPr id="17" name="data-heading">
            <a:extLst xmlns:a="http://schemas.openxmlformats.org/drawingml/2006/main">
              <a:ext uri="{FF2B5EF4-FFF2-40B4-BE49-F238E27FC236}">
                <a16:creationId xmlns:a16="http://schemas.microsoft.com/office/drawing/2014/main" id="{115B04F1-AE5C-4A9D-A3C4-832ADF6F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791450"/>
            <a:ext cx="1209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rPr>
              <a:t>用于本次评估的数据</a:t>
            </a:r>
          </a:p>
        </p:txBody>
      </p:sp>
      <p:sp>
        <p:nvSpPr>
          <p:cNvPr id="18" name="data-bullets">
            <a:extLst xmlns:a="http://schemas.openxmlformats.org/drawingml/2006/main">
              <a:ext uri="{FF2B5EF4-FFF2-40B4-BE49-F238E27FC236}">
                <a16:creationId xmlns:a16="http://schemas.microsoft.com/office/drawing/2014/main" id="{0D52AAF2-A891-4FEA-BD96-D6C8CD57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382000"/>
            <a:ext cx="120967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38100" bIns="0">
            <a:normAutofit fontScale="100000"/>
          </a:bodyPr>
          <a:lstStyle xmlns:a="http://schemas.openxmlformats.org/drawingml/2006/main"/>
          <a:p xmlns:a="http://schemas.openxmlformats.org/drawingml/2006/main">
            <a:pPr marL="34" indent="-22">
              <a:lnSpc>
                <a:spcPct val="113000"/>
              </a:lnSpc>
              <a:spcAft>
                <a:spcPts val="10"/>
              </a:spcAft>
              <a:buNone/>
              <a:def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40,898</a:t>
            </a:r>
            <a:r>
              <a: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 个去重地震事件；所有特征严格限定在起报时刻之前</a:t>
            </a:r>
          </a:p>
          <a:p xmlns:a="http://schemas.openxmlformats.org/drawingml/2006/main">
            <a:pPr marL="34" indent="-22">
              <a:lnSpc>
                <a:spcPct val="113000"/>
              </a:lnSpc>
              <a:spcAft>
                <a:spcPts val="10"/>
              </a:spcAft>
              <a:buNone/>
              <a:def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15,697</a:t>
            </a:r>
            <a:r>
              <a: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 个约 25 km 网格；候选位置不依赖真实震中</a:t>
            </a:r>
          </a:p>
          <a:p xmlns:a="http://schemas.openxmlformats.org/drawingml/2006/main">
            <a:pPr marL="34" indent="-22">
              <a:lnSpc>
                <a:spcPct val="113000"/>
              </a:lnSpc>
              <a:spcAft>
                <a:spcPts val="10"/>
              </a:spcAft>
              <a:buNone/>
              <a:def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21</a:t>
            </a:r>
            <a:r>
              <a: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 个按 75 km / 30 天规则合并的 M5–6 震群；降低同一序列重复计数</a:t>
            </a:r>
          </a:p>
          <a:p xmlns:a="http://schemas.openxmlformats.org/drawingml/2006/main">
            <a:pPr marL="34" indent="-22">
              <a:lnSpc>
                <a:spcPct val="113000"/>
              </a:lnSpc>
              <a:spcAft>
                <a:spcPts val="10"/>
              </a:spcAft>
              <a:buNone/>
              <a:def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动态异常资料曾单独检验，但未提高主终点，因此未进入最终融合分数</a:t>
            </a:r>
          </a:p>
        </p:txBody>
      </p:sp>
      <p:sp>
        <p:nvSpPr>
          <p:cNvPr id="19" name="method-heading">
            <a:extLst xmlns:a="http://schemas.openxmlformats.org/drawingml/2006/main">
              <a:ext uri="{FF2B5EF4-FFF2-40B4-BE49-F238E27FC236}">
                <a16:creationId xmlns:a16="http://schemas.microsoft.com/office/drawing/2014/main" id="{A08F1AD3-838F-4BEC-BE23-38BE6D64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353800"/>
            <a:ext cx="1209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rPr>
              <a:t>冻结模型：B0_R30</a:t>
            </a:r>
          </a:p>
        </p:txBody>
      </p:sp>
      <p:sp>
        <p:nvSpPr>
          <p:cNvPr id="20" name="method-figure-backdrop">
            <a:extLst xmlns:a="http://schemas.openxmlformats.org/drawingml/2006/main">
              <a:ext uri="{FF2B5EF4-FFF2-40B4-BE49-F238E27FC236}">
                <a16:creationId xmlns:a16="http://schemas.microsoft.com/office/drawing/2014/main" id="{7F6B0896-4BE6-44A7-86A1-F692D828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944350"/>
            <a:ext cx="120967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7DE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7381a4409462c">
            <a:extLst>
              <a:ext uri="{96DAC541-7B7A-43D3-8B79-37D633B846F1}">
                <asvg:svgBlip xmlns:asvg="http://schemas.microsoft.com/office/drawing/2016/SVG/main" r:embed="Ra924bac5934f4b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28750" y="12039600"/>
            <a:ext cx="11906250" cy="5124450"/>
          </a:xfrm>
          <a:prstGeom xmlns:a="http://schemas.openxmlformats.org/drawingml/2006/main" prst="rect">
            <a:avLst/>
          </a:prstGeom>
        </p:spPr>
      </p:pic>
      <p:sp>
        <p:nvSpPr>
          <p:cNvPr id="22" name="method-caption">
            <a:extLst xmlns:a="http://schemas.openxmlformats.org/drawingml/2006/main">
              <a:ext uri="{FF2B5EF4-FFF2-40B4-BE49-F238E27FC236}">
                <a16:creationId xmlns:a16="http://schemas.microsoft.com/office/drawing/2014/main" id="{9CEAA9C6-019B-47A1-958E-423192B4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354550"/>
            <a:ext cx="12020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rPr>
              <a:t>75 km 平滑背景描述长期地震活动；近期 30 天 M4+ 活动用于重新排序。输出是相对强度和顺位，不是绝对发震概率。</a:t>
            </a:r>
          </a:p>
        </p:txBody>
      </p:sp>
      <p:sp>
        <p:nvSpPr>
          <p:cNvPr id="23" name="area-callout">
            <a:extLst xmlns:a="http://schemas.openxmlformats.org/drawingml/2006/main">
              <a:ext uri="{FF2B5EF4-FFF2-40B4-BE49-F238E27FC236}">
                <a16:creationId xmlns:a16="http://schemas.microsoft.com/office/drawing/2014/main" id="{8F577C0B-89B7-4A3D-86B5-BB6931BA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669000"/>
            <a:ext cx="1209675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ea-callout-title">
            <a:extLst xmlns:a="http://schemas.openxmlformats.org/drawingml/2006/main">
              <a:ext uri="{FF2B5EF4-FFF2-40B4-BE49-F238E27FC236}">
                <a16:creationId xmlns:a16="http://schemas.microsoft.com/office/drawing/2014/main" id="{B678D1A8-598C-487F-BE6A-525D2BFD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78550"/>
            <a:ext cx="1152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A84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A8432D"/>
                </a:solidFill>
                <a:latin typeface="Microsoft YaHei"/>
                <a:ea typeface="Microsoft YaHei"/>
                <a:cs typeface="Microsoft YaHei"/>
              </a:rPr>
              <a:t>公平比较：报警面积上限始终固定</a:t>
            </a:r>
          </a:p>
        </p:txBody>
      </p:sp>
      <p:sp>
        <p:nvSpPr>
          <p:cNvPr id="25" name="area-callout-body">
            <a:extLst xmlns:a="http://schemas.openxmlformats.org/drawingml/2006/main">
              <a:ext uri="{FF2B5EF4-FFF2-40B4-BE49-F238E27FC236}">
                <a16:creationId xmlns:a16="http://schemas.microsoft.com/office/drawing/2014/main" id="{A4C8684B-17E1-46CF-B72B-F2A7ABD2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450050"/>
            <a:ext cx="11525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0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两个模型都受 600,000 km² 上限约束；平均实际面积为 599,447 与 599,666 km²，差异小于一个网格。召回增加不是因为“画了更多区域”。</a:t>
            </a:r>
          </a:p>
        </p:txBody>
      </p:sp>
      <p:sp>
        <p:nvSpPr>
          <p:cNvPr id="26" name="design-heading">
            <a:extLst xmlns:a="http://schemas.openxmlformats.org/drawingml/2006/main">
              <a:ext uri="{FF2B5EF4-FFF2-40B4-BE49-F238E27FC236}">
                <a16:creationId xmlns:a16="http://schemas.microsoft.com/office/drawing/2014/main" id="{73D23D51-1F41-4740-807D-822911EB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0"/>
            <a:ext cx="1209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rPr>
              <a:t>评价设计</a:t>
            </a:r>
          </a:p>
        </p:txBody>
      </p:sp>
      <p:sp>
        <p:nvSpPr>
          <p:cNvPr id="27" name="design-bullets">
            <a:extLst xmlns:a="http://schemas.openxmlformats.org/drawingml/2006/main">
              <a:ext uri="{FF2B5EF4-FFF2-40B4-BE49-F238E27FC236}">
                <a16:creationId xmlns:a16="http://schemas.microsoft.com/office/drawing/2014/main" id="{F20D603D-68A0-4DE8-B8AA-8D82B4E9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0"/>
            <a:ext cx="120967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38100" bIns="0">
            <a:normAutofit fontScale="100000"/>
          </a:bodyPr>
          <a:lstStyle xmlns:a="http://schemas.openxmlformats.org/drawingml/2006/main"/>
          <a:p xmlns:a="http://schemas.openxmlformats.org/drawingml/2006/main">
            <a:pPr marL="34" indent="-22">
              <a:lnSpc>
                <a:spcPct val="113000"/>
              </a:lnSpc>
              <a:spcAft>
                <a:spcPts val="13"/>
              </a:spcAft>
              <a:buNone/>
              <a:def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按时间顺序训练与验证，禁止使用起报日之后的信息</a:t>
            </a:r>
          </a:p>
          <a:p xmlns:a="http://schemas.openxmlformats.org/drawingml/2006/main">
            <a:pPr marL="34" indent="-22">
              <a:lnSpc>
                <a:spcPct val="113000"/>
              </a:lnSpc>
              <a:spcAft>
                <a:spcPts val="13"/>
              </a:spcAft>
              <a:buNone/>
              <a:def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30 天为主评价窗；90 天结果仅作为补充</a:t>
            </a:r>
          </a:p>
          <a:p xmlns:a="http://schemas.openxmlformats.org/drawingml/2006/main">
            <a:pPr marL="34" indent="-22">
              <a:lnSpc>
                <a:spcPct val="113000"/>
              </a:lnSpc>
              <a:spcAft>
                <a:spcPts val="13"/>
              </a:spcAft>
              <a:buNone/>
              <a:def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三个严格时间外推折，并用 2,000 次配对震群自助法估计不确定性</a:t>
            </a:r>
          </a:p>
          <a:p xmlns:a="http://schemas.openxmlformats.org/drawingml/2006/main">
            <a:pPr marL="34" indent="-22">
              <a:lnSpc>
                <a:spcPct val="113000"/>
              </a:lnSpc>
              <a:spcAft>
                <a:spcPts val="13"/>
              </a:spcAft>
              <a:buNone/>
              <a:def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检验对象是相同报警面积上限下的规则化震群召回</a:t>
            </a:r>
          </a:p>
        </p:txBody>
      </p:sp>
      <p:sp>
        <p:nvSpPr>
          <p:cNvPr id="28" name="anomaly-heading">
            <a:extLst xmlns:a="http://schemas.openxmlformats.org/drawingml/2006/main">
              <a:ext uri="{FF2B5EF4-FFF2-40B4-BE49-F238E27FC236}">
                <a16:creationId xmlns:a16="http://schemas.microsoft.com/office/drawing/2014/main" id="{5E0D9332-2222-4951-BBC8-3207E9D9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36500"/>
            <a:ext cx="1209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rPr>
              <a:t>异常资料的结论</a:t>
            </a:r>
          </a:p>
        </p:txBody>
      </p:sp>
      <p:sp>
        <p:nvSpPr>
          <p:cNvPr id="29" name="anomaly-body">
            <a:extLst xmlns:a="http://schemas.openxmlformats.org/drawingml/2006/main">
              <a:ext uri="{FF2B5EF4-FFF2-40B4-BE49-F238E27FC236}">
                <a16:creationId xmlns:a16="http://schemas.microsoft.com/office/drawing/2014/main" id="{1A4BE11F-953E-4304-BB2B-4F7716C5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908000"/>
            <a:ext cx="12096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rPr>
              <a:t>205 期、59,904 条异常观测已重建为约 322 万条特征并完成检验，但尚无主终点增益证据。当前结论来自地震目录中的长期背景与近期活动。</a:t>
            </a:r>
          </a:p>
        </p:txBody>
      </p:sp>
      <p:sp>
        <p:nvSpPr>
          <p:cNvPr id="30" name="middle-column-title">
            <a:extLst xmlns:a="http://schemas.openxmlformats.org/drawingml/2006/main">
              <a:ext uri="{FF2B5EF4-FFF2-40B4-BE49-F238E27FC236}">
                <a16:creationId xmlns:a16="http://schemas.microsoft.com/office/drawing/2014/main" id="{D9F8AFB1-BFAD-4968-89DC-4C7B2A3A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4476750"/>
            <a:ext cx="1438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7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rPr>
              <a:t>主要结果：相同面积，多召回 4 个震群</a:t>
            </a:r>
          </a:p>
        </p:txBody>
      </p:sp>
      <p:sp>
        <p:nvSpPr>
          <p:cNvPr id="31" name="middle-column-accent">
            <a:extLst xmlns:a="http://schemas.openxmlformats.org/drawingml/2006/main">
              <a:ext uri="{FF2B5EF4-FFF2-40B4-BE49-F238E27FC236}">
                <a16:creationId xmlns:a16="http://schemas.microsoft.com/office/drawing/2014/main" id="{885FA579-E8E3-47E4-8A62-42842D8A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200650"/>
            <a:ext cx="1257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iddle-column-rule">
            <a:extLst xmlns:a="http://schemas.openxmlformats.org/drawingml/2006/main">
              <a:ext uri="{FF2B5EF4-FFF2-40B4-BE49-F238E27FC236}">
                <a16:creationId xmlns:a16="http://schemas.microsoft.com/office/drawing/2014/main" id="{A2A06B83-4A8E-4699-ACF0-6735602E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5238750"/>
            <a:ext cx="1297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etric-baseline">
            <a:extLst xmlns:a="http://schemas.openxmlformats.org/drawingml/2006/main">
              <a:ext uri="{FF2B5EF4-FFF2-40B4-BE49-F238E27FC236}">
                <a16:creationId xmlns:a16="http://schemas.microsoft.com/office/drawing/2014/main" id="{9E9D1631-E33A-43B9-BCBB-CAB0C10D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600700"/>
            <a:ext cx="3857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7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325" b="1">
                <a:solidFill>
                  <a:srgbClr val="8A979F"/>
                </a:solidFill>
                <a:latin typeface="Arial"/>
                <a:ea typeface="Arial"/>
                <a:cs typeface="Arial"/>
              </a:defRPr>
            </a:pPr>
            <a:r>
              <a:rPr sz="8325" b="1">
                <a:solidFill>
                  <a:srgbClr val="8A979F"/>
                </a:solidFill>
                <a:latin typeface="Arial"/>
                <a:ea typeface="Arial"/>
                <a:cs typeface="Arial"/>
              </a:rPr>
              <a:t>5 / 21</a:t>
            </a:r>
          </a:p>
        </p:txBody>
      </p:sp>
      <p:sp>
        <p:nvSpPr>
          <p:cNvPr id="34" name="metric-arrow">
            <a:extLst xmlns:a="http://schemas.openxmlformats.org/drawingml/2006/main">
              <a:ext uri="{FF2B5EF4-FFF2-40B4-BE49-F238E27FC236}">
                <a16:creationId xmlns:a16="http://schemas.microsoft.com/office/drawing/2014/main" id="{FD25721F-E98D-4566-9B68-73FC8A79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7550" y="5638800"/>
            <a:ext cx="1571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8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75" b="1">
                <a:solidFill>
                  <a:srgbClr val="C9D7DE"/>
                </a:solidFill>
                <a:latin typeface="Arial"/>
                <a:ea typeface="Arial"/>
                <a:cs typeface="Arial"/>
              </a:defRPr>
            </a:pPr>
            <a:r>
              <a:rPr sz="7575" b="1">
                <a:solidFill>
                  <a:srgbClr val="C9D7D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5" name="metric-r30">
            <a:extLst xmlns:a="http://schemas.openxmlformats.org/drawingml/2006/main">
              <a:ext uri="{FF2B5EF4-FFF2-40B4-BE49-F238E27FC236}">
                <a16:creationId xmlns:a16="http://schemas.microsoft.com/office/drawing/2014/main" id="{332BEDEE-AE9A-41C4-8076-8000BECC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0" y="56007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7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3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83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9 / 21</a:t>
            </a:r>
          </a:p>
        </p:txBody>
      </p:sp>
      <p:sp>
        <p:nvSpPr>
          <p:cNvPr id="36" name="metric-gain">
            <a:extLst xmlns:a="http://schemas.openxmlformats.org/drawingml/2006/main">
              <a:ext uri="{FF2B5EF4-FFF2-40B4-BE49-F238E27FC236}">
                <a16:creationId xmlns:a16="http://schemas.microsoft.com/office/drawing/2014/main" id="{6D45AA26-E705-49EB-BEE3-306E1860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75" y="5476875"/>
            <a:ext cx="2905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200" b="1">
                <a:solidFill>
                  <a:srgbClr val="E46F51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E46F51"/>
                </a:solidFill>
                <a:latin typeface="Arial"/>
                <a:ea typeface="Arial"/>
                <a:cs typeface="Arial"/>
              </a:rPr>
              <a:t>+4</a:t>
            </a:r>
          </a:p>
        </p:txBody>
      </p:sp>
      <p:sp>
        <p:nvSpPr>
          <p:cNvPr id="37" name="metric-baseline-label">
            <a:extLst xmlns:a="http://schemas.openxmlformats.org/drawingml/2006/main">
              <a:ext uri="{FF2B5EF4-FFF2-40B4-BE49-F238E27FC236}">
                <a16:creationId xmlns:a16="http://schemas.microsoft.com/office/drawing/2014/main" id="{A26CA4FE-59E7-4700-8116-04444225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685800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rPr>
              <a:t>B0 背景模型</a:t>
            </a:r>
          </a:p>
        </p:txBody>
      </p:sp>
      <p:sp>
        <p:nvSpPr>
          <p:cNvPr id="38" name="metric-r30-label">
            <a:extLst xmlns:a="http://schemas.openxmlformats.org/drawingml/2006/main">
              <a:ext uri="{FF2B5EF4-FFF2-40B4-BE49-F238E27FC236}">
                <a16:creationId xmlns:a16="http://schemas.microsoft.com/office/drawing/2014/main" id="{292ED7CB-9B8D-4DCC-A01B-0DB33B89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0" y="6858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9AA"/>
                </a:solidFill>
                <a:latin typeface="Microsoft YaHei"/>
                <a:ea typeface="Microsoft YaHei"/>
                <a:cs typeface="Microsoft YaHei"/>
              </a:rPr>
              <a:t>B0_R30 冻结模型</a:t>
            </a:r>
          </a:p>
        </p:txBody>
      </p:sp>
      <p:sp>
        <p:nvSpPr>
          <p:cNvPr id="39" name="metric-gain-label">
            <a:extLst xmlns:a="http://schemas.openxmlformats.org/drawingml/2006/main">
              <a:ext uri="{FF2B5EF4-FFF2-40B4-BE49-F238E27FC236}">
                <a16:creationId xmlns:a16="http://schemas.microsoft.com/office/drawing/2014/main" id="{6E92467C-8366-487D-B851-EC2241FE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75" y="6762750"/>
            <a:ext cx="2905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E46F5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46F51"/>
                </a:solidFill>
                <a:latin typeface="Arial"/>
                <a:ea typeface="Arial"/>
                <a:cs typeface="Arial"/>
              </a:rPr>
              <a:t>+19.05 pp</a:t>
            </a:r>
          </a:p>
        </p:txBody>
      </p:sp>
      <p:sp>
        <p:nvSpPr>
          <p:cNvPr id="40" name="primary-result-figure-backdrop">
            <a:extLst xmlns:a="http://schemas.openxmlformats.org/drawingml/2006/main">
              <a:ext uri="{FF2B5EF4-FFF2-40B4-BE49-F238E27FC236}">
                <a16:creationId xmlns:a16="http://schemas.microsoft.com/office/drawing/2014/main" id="{B5F36420-5570-4F6D-A812-5A5E4E61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524750"/>
            <a:ext cx="14382750" cy="788670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7DE"/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0d002d78b4083">
            <a:extLst>
              <a:ext uri="{96DAC541-7B7A-43D3-8B79-37D633B846F1}">
                <asvg:svgBlip xmlns:asvg="http://schemas.microsoft.com/office/drawing/2016/SVG/main" r:embed="R8a9debd9207646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287500" y="7620000"/>
            <a:ext cx="14192250" cy="7696200"/>
          </a:xfrm>
          <a:prstGeom xmlns:a="http://schemas.openxmlformats.org/drawingml/2006/main" prst="rect">
            <a:avLst/>
          </a:prstGeom>
        </p:spPr>
      </p:pic>
      <p:sp>
        <p:nvSpPr>
          <p:cNvPr id="42" name="primary-result-caption">
            <a:extLst xmlns:a="http://schemas.openxmlformats.org/drawingml/2006/main">
              <a:ext uri="{FF2B5EF4-FFF2-40B4-BE49-F238E27FC236}">
                <a16:creationId xmlns:a16="http://schemas.microsoft.com/office/drawing/2014/main" id="{7858C114-4ACD-40D9-8E99-9EADE17C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15506700"/>
            <a:ext cx="14306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rPr>
              <a:t>在 600,000 km² 主评价上限，配对震群自助法 95% 区间为 +4.76 至 +38.10 个百分点；正增益复本比例为 0.9905，不是模型正确概率。</a:t>
            </a:r>
          </a:p>
        </p:txBody>
      </p:sp>
      <p:sp>
        <p:nvSpPr>
          <p:cNvPr id="43" name="all-clusters-heading">
            <a:extLst xmlns:a="http://schemas.openxmlformats.org/drawingml/2006/main">
              <a:ext uri="{FF2B5EF4-FFF2-40B4-BE49-F238E27FC236}">
                <a16:creationId xmlns:a16="http://schemas.microsoft.com/office/drawing/2014/main" id="{5D388988-E91A-456B-BE16-C9C304A0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16630650"/>
            <a:ext cx="1438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rPr>
              <a:t>21 个规则化震群逐一核对</a:t>
            </a:r>
          </a:p>
        </p:txBody>
      </p:sp>
      <p:sp>
        <p:nvSpPr>
          <p:cNvPr id="44" name="all-cluster-figure-backdrop">
            <a:extLst xmlns:a="http://schemas.openxmlformats.org/drawingml/2006/main">
              <a:ext uri="{FF2B5EF4-FFF2-40B4-BE49-F238E27FC236}">
                <a16:creationId xmlns:a16="http://schemas.microsoft.com/office/drawing/2014/main" id="{EB1472D3-0E31-43AA-A70B-AFBDC729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7278350"/>
            <a:ext cx="12668250" cy="9410700"/>
          </a:xfrm>
          <a:prstGeom xmlns:a="http://schemas.openxmlformats.org/drawingml/2006/main" prst="roundRect">
            <a:avLst>
              <a:gd name="adj" fmla="val 12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7DE"/>
            </a:solidFill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750d6bb604b2e">
            <a:extLst>
              <a:ext uri="{96DAC541-7B7A-43D3-8B79-37D633B846F1}">
                <asvg:svgBlip xmlns:asvg="http://schemas.microsoft.com/office/drawing/2016/SVG/main" r:embed="Re3e11144a3cf4b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144750" y="17373600"/>
            <a:ext cx="12477750" cy="9220200"/>
          </a:xfrm>
          <a:prstGeom xmlns:a="http://schemas.openxmlformats.org/drawingml/2006/main" prst="rect">
            <a:avLst/>
          </a:prstGeom>
        </p:spPr>
      </p:pic>
      <p:sp>
        <p:nvSpPr>
          <p:cNvPr id="46" name="all-cluster-caption">
            <a:extLst xmlns:a="http://schemas.openxmlformats.org/drawingml/2006/main">
              <a:ext uri="{FF2B5EF4-FFF2-40B4-BE49-F238E27FC236}">
                <a16:creationId xmlns:a16="http://schemas.microsoft.com/office/drawing/2014/main" id="{A690D5A8-1EE2-4A9E-8896-99DDBD51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26822400"/>
            <a:ext cx="1430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rPr>
              <a:t>逐一结果为：5 个共同命中、4 个新增命中、0 个损失、12 个共同未命中。改进集中在前两折；Fold 3 为 0/7→0/7。</a:t>
            </a:r>
          </a:p>
        </p:txBody>
      </p:sp>
      <p:sp>
        <p:nvSpPr>
          <p:cNvPr id="47" name="right-column-title">
            <a:extLst xmlns:a="http://schemas.openxmlformats.org/drawingml/2006/main">
              <a:ext uri="{FF2B5EF4-FFF2-40B4-BE49-F238E27FC236}">
                <a16:creationId xmlns:a16="http://schemas.microsoft.com/office/drawing/2014/main" id="{0468A442-EA70-4346-9609-271EE87B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0" y="4476750"/>
            <a:ext cx="1209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7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rPr>
              <a:t>代表震例与科学边界</a:t>
            </a:r>
          </a:p>
        </p:txBody>
      </p:sp>
      <p:sp>
        <p:nvSpPr>
          <p:cNvPr id="48" name="right-column-accent">
            <a:extLst xmlns:a="http://schemas.openxmlformats.org/drawingml/2006/main">
              <a:ext uri="{FF2B5EF4-FFF2-40B4-BE49-F238E27FC236}">
                <a16:creationId xmlns:a16="http://schemas.microsoft.com/office/drawing/2014/main" id="{EABA5905-0E4B-4ADA-AAEB-EF8C6AE9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0" y="5200650"/>
            <a:ext cx="1257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ight-column-rule">
            <a:extLst xmlns:a="http://schemas.openxmlformats.org/drawingml/2006/main">
              <a:ext uri="{FF2B5EF4-FFF2-40B4-BE49-F238E27FC236}">
                <a16:creationId xmlns:a16="http://schemas.microsoft.com/office/drawing/2014/main" id="{CAE7BA7B-A030-45BC-B774-80863251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6700" y="5238750"/>
            <a:ext cx="1068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ase-study-figure-backdrop">
            <a:extLst xmlns:a="http://schemas.openxmlformats.org/drawingml/2006/main">
              <a:ext uri="{FF2B5EF4-FFF2-40B4-BE49-F238E27FC236}">
                <a16:creationId xmlns:a16="http://schemas.microsoft.com/office/drawing/2014/main" id="{7233275F-7B66-4D43-8890-CFB3C6A9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0" y="5429250"/>
            <a:ext cx="12096750" cy="8334375"/>
          </a:xfrm>
          <a:prstGeom xmlns:a="http://schemas.openxmlformats.org/drawingml/2006/main" prst="roundRect">
            <a:avLst>
              <a:gd name="adj" fmla="val 1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7DE"/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7f2c96f6d4472">
            <a:extLst>
              <a:ext uri="{96DAC541-7B7A-43D3-8B79-37D633B846F1}">
                <asvg:svgBlip xmlns:asvg="http://schemas.microsoft.com/office/drawing/2016/SVG/main" r:embed="R63dd1638953641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432250" y="5524500"/>
            <a:ext cx="11906250" cy="8143875"/>
          </a:xfrm>
          <a:prstGeom xmlns:a="http://schemas.openxmlformats.org/drawingml/2006/main" prst="rect">
            <a:avLst/>
          </a:prstGeom>
        </p:spPr>
      </p:pic>
      <p:sp>
        <p:nvSpPr>
          <p:cNvPr id="52" name="case-study-caption">
            <a:extLst xmlns:a="http://schemas.openxmlformats.org/drawingml/2006/main">
              <a:ext uri="{FF2B5EF4-FFF2-40B4-BE49-F238E27FC236}">
                <a16:creationId xmlns:a16="http://schemas.microsoft.com/office/drawing/2014/main" id="{36E9F96D-5964-436E-A622-960723E3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0" y="13858875"/>
            <a:ext cx="12020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rPr>
              <a:t>地图和时间线只展示起报时刻之前可见的地震活动，以及后来用于评价的目标震群；真实震中未参与候选位置生成。</a:t>
            </a:r>
          </a:p>
        </p:txBody>
      </p:sp>
      <p:sp>
        <p:nvSpPr>
          <p:cNvPr id="53" name="case-highlights-heading">
            <a:extLst xmlns:a="http://schemas.openxmlformats.org/drawingml/2006/main">
              <a:ext uri="{FF2B5EF4-FFF2-40B4-BE49-F238E27FC236}">
                <a16:creationId xmlns:a16="http://schemas.microsoft.com/office/drawing/2014/main" id="{39180084-8699-4576-8AC1-0D33EF00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0" y="15011400"/>
            <a:ext cx="1209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rPr>
              <a:t>为什么这两个震例直观</a:t>
            </a:r>
          </a:p>
        </p:txBody>
      </p:sp>
      <p:sp>
        <p:nvSpPr>
          <p:cNvPr id="54" name="case-highlights">
            <a:extLst xmlns:a="http://schemas.openxmlformats.org/drawingml/2006/main">
              <a:ext uri="{FF2B5EF4-FFF2-40B4-BE49-F238E27FC236}">
                <a16:creationId xmlns:a16="http://schemas.microsoft.com/office/drawing/2014/main" id="{BDD49387-A92E-4065-B672-FC09689A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0" y="15621000"/>
            <a:ext cx="120967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38100" bIns="0">
            <a:normAutofit fontScale="100000"/>
          </a:bodyPr>
          <a:lstStyle xmlns:a="http://schemas.openxmlformats.org/drawingml/2006/main"/>
          <a:p xmlns:a="http://schemas.openxmlformats.org/drawingml/2006/main">
            <a:pPr marL="34" indent="-22">
              <a:lnSpc>
                <a:spcPct val="113000"/>
              </a:lnSpc>
              <a:spcAft>
                <a:spcPts val="15"/>
              </a:spcAft>
              <a:buNone/>
              <a:def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库车 M5.5：</a:t>
            </a:r>
            <a:r>
              <a: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目标网格顺位由 1,725 升至第 3；起报前约 4 小时附近出现 M4.9。</a:t>
            </a:r>
          </a:p>
          <a:p xmlns:a="http://schemas.openxmlformats.org/drawingml/2006/main">
            <a:pPr marL="34" indent="-22">
              <a:lnSpc>
                <a:spcPct val="113000"/>
              </a:lnSpc>
              <a:spcAft>
                <a:spcPts val="15"/>
              </a:spcAft>
              <a:buNone/>
              <a:def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肃北 M5.0：</a:t>
            </a:r>
            <a:r>
              <a:rPr sz="2325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顺位由 3,912 升至第 194；起报前约 29 天、14.5 km 内有 M5.5。</a:t>
            </a:r>
          </a:p>
        </p:txBody>
      </p:sp>
      <p:sp>
        <p:nvSpPr>
          <p:cNvPr id="55" name="rank-shift-figure-backdrop">
            <a:extLst xmlns:a="http://schemas.openxmlformats.org/drawingml/2006/main">
              <a:ext uri="{FF2B5EF4-FFF2-40B4-BE49-F238E27FC236}">
                <a16:creationId xmlns:a16="http://schemas.microsoft.com/office/drawing/2014/main" id="{82D0181E-9958-4E70-AC85-12B8E7C6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0" y="18116550"/>
            <a:ext cx="12096750" cy="61436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7DE"/>
            </a:solidFill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a17c129f74be4">
            <a:extLst>
              <a:ext uri="{96DAC541-7B7A-43D3-8B79-37D633B846F1}">
                <asvg:svgBlip xmlns:asvg="http://schemas.microsoft.com/office/drawing/2016/SVG/main" r:embed="R2a5e43dad68c4f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432250" y="18211800"/>
            <a:ext cx="11906250" cy="5953125"/>
          </a:xfrm>
          <a:prstGeom xmlns:a="http://schemas.openxmlformats.org/drawingml/2006/main" prst="rect">
            <a:avLst/>
          </a:prstGeom>
        </p:spPr>
      </p:pic>
      <p:sp>
        <p:nvSpPr>
          <p:cNvPr id="57" name="rank-shift-caption">
            <a:extLst xmlns:a="http://schemas.openxmlformats.org/drawingml/2006/main">
              <a:ext uri="{FF2B5EF4-FFF2-40B4-BE49-F238E27FC236}">
                <a16:creationId xmlns:a16="http://schemas.microsoft.com/office/drawing/2014/main" id="{9C8A2340-D686-40E7-B3CB-887118F5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0" y="24355425"/>
            <a:ext cx="12020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rPr>
              <a:t>四个新增命中均发生在西北区域（Fold 1–2）；两次库车目标位于同一个约 25 km 网格，因此不能把它们当作两个单独的新空间发现。</a:t>
            </a:r>
          </a:p>
        </p:txBody>
      </p:sp>
      <p:sp>
        <p:nvSpPr>
          <p:cNvPr id="58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E113A138-73CD-4465-ACB6-5D037C3B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0" y="25660350"/>
            <a:ext cx="1209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rPr>
              <a:t>结论成立到哪里</a:t>
            </a:r>
          </a:p>
        </p:txBody>
      </p:sp>
      <p:sp>
        <p:nvSpPr>
          <p:cNvPr id="59" name="limits-bullets">
            <a:extLst xmlns:a="http://schemas.openxmlformats.org/drawingml/2006/main">
              <a:ext uri="{FF2B5EF4-FFF2-40B4-BE49-F238E27FC236}">
                <a16:creationId xmlns:a16="http://schemas.microsoft.com/office/drawing/2014/main" id="{FECFEE2B-51B5-4D8F-8006-DC4FC299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0" y="26193750"/>
            <a:ext cx="12096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38100" bIns="0">
            <a:normAutofit fontScale="100000"/>
          </a:bodyPr>
          <a:lstStyle xmlns:a="http://schemas.openxmlformats.org/drawingml/2006/main"/>
          <a:p xmlns:a="http://schemas.openxmlformats.org/drawingml/2006/main">
            <a:pPr marL="34" indent="-22">
              <a:lnSpc>
                <a:spcPct val="107000"/>
              </a:lnSpc>
              <a:spcAft>
                <a:spcPts val="8"/>
              </a:spcAft>
              <a:buNone/>
              <a:defRPr sz="2100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这是冻结模型的历史开发证据，不是真实前瞻结论</a:t>
            </a:r>
          </a:p>
          <a:p xmlns:a="http://schemas.openxmlformats.org/drawingml/2006/main">
            <a:pPr marL="34" indent="-22">
              <a:lnSpc>
                <a:spcPct val="107000"/>
              </a:lnSpc>
              <a:spcAft>
                <a:spcPts val="8"/>
              </a:spcAft>
              <a:buNone/>
              <a:defRPr sz="2100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Fold 3 没有增益，说明效果存在明显地域差异</a:t>
            </a:r>
          </a:p>
          <a:p xmlns:a="http://schemas.openxmlformats.org/drawingml/2006/main">
            <a:pPr marL="34" indent="-22">
              <a:lnSpc>
                <a:spcPct val="107000"/>
              </a:lnSpc>
              <a:spcAft>
                <a:spcPts val="8"/>
              </a:spcAft>
              <a:buNone/>
              <a:defRPr sz="2100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地理分块不确定性尚未纳入现有震群自助区间</a:t>
            </a:r>
          </a:p>
          <a:p xmlns:a="http://schemas.openxmlformats.org/drawingml/2006/main">
            <a:pPr marL="34" indent="-22">
              <a:lnSpc>
                <a:spcPct val="107000"/>
              </a:lnSpc>
              <a:spcAft>
                <a:spcPts val="8"/>
              </a:spcAft>
              <a:buNone/>
              <a:defRPr sz="2100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真实前瞻已授权并冻结；截至2026年8月31日首期尚未起报，目前为0期</a:t>
            </a:r>
          </a:p>
        </p:txBody>
      </p:sp>
      <p:sp>
        <p:nvSpPr>
          <p:cNvPr id="60" name="footer">
            <a:extLst xmlns:a="http://schemas.openxmlformats.org/drawingml/2006/main">
              <a:ext uri="{FF2B5EF4-FFF2-40B4-BE49-F238E27FC236}">
                <a16:creationId xmlns:a16="http://schemas.microsoft.com/office/drawing/2014/main" id="{767531EB-5655-4D75-AC32-A9FEA58A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765500"/>
            <a:ext cx="42795825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footer-note">
            <a:extLst xmlns:a="http://schemas.openxmlformats.org/drawingml/2006/main">
              <a:ext uri="{FF2B5EF4-FFF2-40B4-BE49-F238E27FC236}">
                <a16:creationId xmlns:a16="http://schemas.microsoft.com/office/drawing/2014/main" id="{0211CFBD-F6B0-493A-9699-8C9A1C30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70300"/>
            <a:ext cx="3333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638"/>
                </a:solidFill>
                <a:latin typeface="Microsoft YaHei"/>
                <a:ea typeface="Microsoft YaHei"/>
                <a:cs typeface="Microsoft YaHei"/>
              </a:rPr>
              <a:t>核心意义：近期地震活动在固定报警面积上限下提供了可解释的历史增益；能否迁移到未来，必须由不可回写的真实前瞻结果回答。</a:t>
            </a:r>
          </a:p>
        </p:txBody>
      </p:sp>
      <p:sp>
        <p:nvSpPr>
          <p:cNvPr id="62" name="footer-version">
            <a:extLst xmlns:a="http://schemas.openxmlformats.org/drawingml/2006/main">
              <a:ext uri="{FF2B5EF4-FFF2-40B4-BE49-F238E27FC236}">
                <a16:creationId xmlns:a16="http://schemas.microsoft.com/office/drawing/2014/main" id="{9CE7276A-5BF0-4B57-A709-E4684674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0" y="290703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0717C"/>
                </a:solidFill>
                <a:latin typeface="Microsoft YaHei"/>
                <a:ea typeface="Microsoft YaHei"/>
                <a:cs typeface="Microsoft YaHei"/>
              </a:rPr>
              <a:t>冻结协议：P1 v0.2.7  ·  30 d 主评价</a:t>
            </a:r>
          </a:p>
        </p:txBody>
      </p:sp>
    </p:spTree>
    <p:extLst>
      <p:ext uri="{BB962C8B-B14F-4D97-AF65-F5344CB8AC3E}">
        <p14:creationId xmlns:p14="http://schemas.microsoft.com/office/powerpoint/2010/main" val="1557015786"/>
      </p:ext>
    </p:extLst>
  </p:cSld>
</p:sld>
</file>

<file path=ppt/theme/theme1.xml><?xml version="1.0" encoding="utf-8"?>
<a:theme xmlns:a="http://schemas.openxmlformats.org/drawingml/2006/main" name="SeismoFlux">
  <a:themeElements>
    <a:clrScheme name="SeismoFlux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ismoFlu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Office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SeismoFlux科学海报</dc:title>
  <ns2:created xsi:type="dcterms:W3CDTF">2026-08-31T08:19:40.0210000Z</ns2:created>
  <ns2:modified xsi:type="dcterms:W3CDTF">2026-08-31T08:19:40.0220000Z</ns2:modified>
</ns0:coreProperties>
</file>